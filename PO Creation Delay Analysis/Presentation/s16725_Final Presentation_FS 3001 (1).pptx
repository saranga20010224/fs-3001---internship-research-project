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odec Pro Bold" charset="1" panose="00000600000000000000"/>
      <p:regular r:id="rId20"/>
    </p:embeddedFont>
    <p:embeddedFont>
      <p:font typeface="Anton" charset="1" panose="00000500000000000000"/>
      <p:regular r:id="rId21"/>
    </p:embeddedFont>
    <p:embeddedFont>
      <p:font typeface="Codec Pro" charset="1" panose="00000500000000000000"/>
      <p:regular r:id="rId22"/>
    </p:embeddedFont>
    <p:embeddedFont>
      <p:font typeface="Open Sans" charset="1" panose="020B0606030504020204"/>
      <p:regular r:id="rId23"/>
    </p:embeddedFont>
    <p:embeddedFont>
      <p:font typeface="Open Sans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1930" y="-1424914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48298" y="7622511"/>
            <a:ext cx="8611002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R.M.R.G.I.S. Rathnayaka</a:t>
            </a:r>
          </a:p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S16725 | Faculty of Science, University of Colombo</a:t>
            </a:r>
          </a:p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1D8AC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Hela Clothing Private Limited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317710" y="7499020"/>
            <a:ext cx="9941590" cy="1577946"/>
            <a:chOff x="0" y="0"/>
            <a:chExt cx="2555543" cy="405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5543" cy="405620"/>
            </a:xfrm>
            <a:custGeom>
              <a:avLst/>
              <a:gdLst/>
              <a:ahLst/>
              <a:cxnLst/>
              <a:rect r="r" b="b" t="t" l="l"/>
              <a:pathLst>
                <a:path h="405620" w="2555543">
                  <a:moveTo>
                    <a:pt x="40154" y="0"/>
                  </a:moveTo>
                  <a:lnTo>
                    <a:pt x="2515389" y="0"/>
                  </a:lnTo>
                  <a:cubicBezTo>
                    <a:pt x="2526038" y="0"/>
                    <a:pt x="2536252" y="4230"/>
                    <a:pt x="2543782" y="11761"/>
                  </a:cubicBezTo>
                  <a:cubicBezTo>
                    <a:pt x="2551312" y="19291"/>
                    <a:pt x="2555543" y="29504"/>
                    <a:pt x="2555543" y="40154"/>
                  </a:cubicBezTo>
                  <a:lnTo>
                    <a:pt x="2555543" y="365466"/>
                  </a:lnTo>
                  <a:cubicBezTo>
                    <a:pt x="2555543" y="376116"/>
                    <a:pt x="2551312" y="386329"/>
                    <a:pt x="2543782" y="393859"/>
                  </a:cubicBezTo>
                  <a:cubicBezTo>
                    <a:pt x="2536252" y="401390"/>
                    <a:pt x="2526038" y="405620"/>
                    <a:pt x="2515389" y="405620"/>
                  </a:cubicBezTo>
                  <a:lnTo>
                    <a:pt x="40154" y="405620"/>
                  </a:lnTo>
                  <a:cubicBezTo>
                    <a:pt x="29504" y="405620"/>
                    <a:pt x="19291" y="401390"/>
                    <a:pt x="11761" y="393859"/>
                  </a:cubicBezTo>
                  <a:cubicBezTo>
                    <a:pt x="4230" y="386329"/>
                    <a:pt x="0" y="376116"/>
                    <a:pt x="0" y="365466"/>
                  </a:cubicBezTo>
                  <a:lnTo>
                    <a:pt x="0" y="40154"/>
                  </a:lnTo>
                  <a:cubicBezTo>
                    <a:pt x="0" y="29504"/>
                    <a:pt x="4230" y="19291"/>
                    <a:pt x="11761" y="11761"/>
                  </a:cubicBezTo>
                  <a:cubicBezTo>
                    <a:pt x="19291" y="4230"/>
                    <a:pt x="29504" y="0"/>
                    <a:pt x="40154" y="0"/>
                  </a:cubicBezTo>
                  <a:close/>
                </a:path>
              </a:pathLst>
            </a:custGeom>
            <a:ln w="38100" cap="rnd">
              <a:solidFill>
                <a:srgbClr val="FDBA2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55543" cy="443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98260" y="1143000"/>
            <a:ext cx="12661040" cy="512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3"/>
              </a:lnSpc>
            </a:pPr>
            <a:r>
              <a:rPr lang="en-US" sz="7679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Analysis of </a:t>
            </a:r>
            <a:r>
              <a:rPr lang="en-US" sz="7679">
                <a:solidFill>
                  <a:srgbClr val="1D8ACA"/>
                </a:solidFill>
                <a:latin typeface="Anton"/>
                <a:ea typeface="Anton"/>
                <a:cs typeface="Anton"/>
                <a:sym typeface="Anton"/>
              </a:rPr>
              <a:t>Purchase Order</a:t>
            </a:r>
          </a:p>
          <a:p>
            <a:pPr algn="r">
              <a:lnSpc>
                <a:spcPts val="8063"/>
              </a:lnSpc>
            </a:pPr>
            <a:r>
              <a:rPr lang="en-US" sz="7679">
                <a:solidFill>
                  <a:srgbClr val="1D8ACA"/>
                </a:solidFill>
                <a:latin typeface="Anton"/>
                <a:ea typeface="Anton"/>
                <a:cs typeface="Anton"/>
                <a:sym typeface="Anton"/>
              </a:rPr>
              <a:t>Creation Delays</a:t>
            </a:r>
            <a:r>
              <a:rPr lang="en-US" sz="7679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 &amp; Their Causes</a:t>
            </a:r>
          </a:p>
          <a:p>
            <a:pPr algn="r">
              <a:lnSpc>
                <a:spcPts val="8063"/>
              </a:lnSpc>
            </a:pPr>
            <a:r>
              <a:rPr lang="en-US" sz="7679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in </a:t>
            </a:r>
            <a:r>
              <a:rPr lang="en-US" sz="7679">
                <a:solidFill>
                  <a:srgbClr val="1D8ACA"/>
                </a:solidFill>
                <a:latin typeface="Anton"/>
                <a:ea typeface="Anton"/>
                <a:cs typeface="Anton"/>
                <a:sym typeface="Anton"/>
              </a:rPr>
              <a:t>Apparel Manufacturing</a:t>
            </a:r>
            <a:r>
              <a:rPr lang="en-US" sz="7679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 Operations</a:t>
            </a:r>
          </a:p>
          <a:p>
            <a:pPr algn="r">
              <a:lnSpc>
                <a:spcPts val="806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533519" y="1028700"/>
            <a:ext cx="182032" cy="8048266"/>
            <a:chOff x="0" y="0"/>
            <a:chExt cx="47943" cy="2119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943" cy="2119708"/>
            </a:xfrm>
            <a:custGeom>
              <a:avLst/>
              <a:gdLst/>
              <a:ahLst/>
              <a:cxnLst/>
              <a:rect r="r" b="b" t="t" l="l"/>
              <a:pathLst>
                <a:path h="2119708" w="47943">
                  <a:moveTo>
                    <a:pt x="23971" y="0"/>
                  </a:moveTo>
                  <a:lnTo>
                    <a:pt x="23971" y="0"/>
                  </a:lnTo>
                  <a:cubicBezTo>
                    <a:pt x="37210" y="0"/>
                    <a:pt x="47943" y="10732"/>
                    <a:pt x="47943" y="23971"/>
                  </a:cubicBezTo>
                  <a:lnTo>
                    <a:pt x="47943" y="2095736"/>
                  </a:lnTo>
                  <a:cubicBezTo>
                    <a:pt x="47943" y="2108976"/>
                    <a:pt x="37210" y="2119708"/>
                    <a:pt x="23971" y="2119708"/>
                  </a:cubicBezTo>
                  <a:lnTo>
                    <a:pt x="23971" y="2119708"/>
                  </a:lnTo>
                  <a:cubicBezTo>
                    <a:pt x="10732" y="2119708"/>
                    <a:pt x="0" y="2108976"/>
                    <a:pt x="0" y="2095736"/>
                  </a:cubicBezTo>
                  <a:lnTo>
                    <a:pt x="0" y="23971"/>
                  </a:lnTo>
                  <a:cubicBezTo>
                    <a:pt x="0" y="10732"/>
                    <a:pt x="10732" y="0"/>
                    <a:pt x="2397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7943" cy="2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0" y="-96774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080885" y="0"/>
            <a:ext cx="6207115" cy="4114800"/>
          </a:xfrm>
          <a:custGeom>
            <a:avLst/>
            <a:gdLst/>
            <a:ahLst/>
            <a:cxnLst/>
            <a:rect r="r" b="b" t="t" l="l"/>
            <a:pathLst>
              <a:path h="4114800" w="6207115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12951" y="3173446"/>
            <a:ext cx="5246370" cy="6084854"/>
            <a:chOff x="0" y="0"/>
            <a:chExt cx="812800" cy="9427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942703"/>
            </a:xfrm>
            <a:custGeom>
              <a:avLst/>
              <a:gdLst/>
              <a:ahLst/>
              <a:cxnLst/>
              <a:rect r="r" b="b" t="t" l="l"/>
              <a:pathLst>
                <a:path h="94270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42703"/>
                  </a:lnTo>
                  <a:lnTo>
                    <a:pt x="0" y="942703"/>
                  </a:lnTo>
                  <a:close/>
                </a:path>
              </a:pathLst>
            </a:custGeom>
            <a:blipFill>
              <a:blip r:embed="rId5"/>
              <a:stretch>
                <a:fillRect l="0" t="-7480" r="0" b="-748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5098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28602"/>
            <a:ext cx="9408541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About Hela Clothing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14337"/>
            <a:ext cx="8094415" cy="35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One of Sri Lanka's leading apparel manufacturers</a:t>
            </a:r>
          </a:p>
          <a:p>
            <a:pPr algn="ctr">
              <a:lnSpc>
                <a:spcPts val="3482"/>
              </a:lnSpc>
            </a:pPr>
          </a:p>
          <a:p>
            <a:pPr algn="ctr">
              <a:lnSpc>
                <a:spcPts val="3482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🏭Multiple manufacturing plants</a:t>
            </a:r>
          </a:p>
          <a:p>
            <a:pPr algn="ctr">
              <a:lnSpc>
                <a:spcPts val="3482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🌍Global buyer network</a:t>
            </a:r>
          </a:p>
          <a:p>
            <a:pPr algn="ctr">
              <a:lnSpc>
                <a:spcPts val="3482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📦Complex procurement operations</a:t>
            </a:r>
          </a:p>
          <a:p>
            <a:pPr algn="ctr">
              <a:lnSpc>
                <a:spcPts val="3482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💻SAP-based ERP system</a:t>
            </a:r>
          </a:p>
          <a:p>
            <a:pPr algn="ctr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-7962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098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0972800" y="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143583"/>
            <a:ext cx="5054326" cy="4953667"/>
            <a:chOff x="0" y="0"/>
            <a:chExt cx="1331181" cy="1304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1181" cy="1304669"/>
            </a:xfrm>
            <a:custGeom>
              <a:avLst/>
              <a:gdLst/>
              <a:ahLst/>
              <a:cxnLst/>
              <a:rect r="r" b="b" t="t" l="l"/>
              <a:pathLst>
                <a:path h="1304669" w="1331181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1264844"/>
                  </a:lnTo>
                  <a:cubicBezTo>
                    <a:pt x="1331181" y="1275407"/>
                    <a:pt x="1326985" y="1285536"/>
                    <a:pt x="1319516" y="1293005"/>
                  </a:cubicBezTo>
                  <a:cubicBezTo>
                    <a:pt x="1312047" y="1300474"/>
                    <a:pt x="1301918" y="1304669"/>
                    <a:pt x="1291355" y="1304669"/>
                  </a:cubicBezTo>
                  <a:lnTo>
                    <a:pt x="39825" y="1304669"/>
                  </a:lnTo>
                  <a:cubicBezTo>
                    <a:pt x="17830" y="1304669"/>
                    <a:pt x="0" y="1286839"/>
                    <a:pt x="0" y="1264844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331181" cy="1418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⚠️</a:t>
              </a:r>
            </a:p>
            <a:p>
              <a:pPr algn="ctr">
                <a:lnSpc>
                  <a:spcPts val="1400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 Problem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Delays in P.O. creation cause material shortages, production stoppages &amp; increased costs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00079" y="1009180"/>
            <a:ext cx="8496321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Project O</a:t>
            </a: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1098" y="2523872"/>
            <a:ext cx="10026122" cy="5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51" spc="15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is a Purchase Order (P.O.)?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098" y="3127604"/>
            <a:ext cx="15355189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i="true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An official document issued by a company to its suppliers that specifies materials needed, quantities, and delivery dates.</a:t>
            </a:r>
          </a:p>
          <a:p>
            <a:pPr algn="l">
              <a:lnSpc>
                <a:spcPts val="3246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334705" y="4143583"/>
            <a:ext cx="5054326" cy="4953667"/>
            <a:chOff x="0" y="0"/>
            <a:chExt cx="1331181" cy="1304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1181" cy="1304669"/>
            </a:xfrm>
            <a:custGeom>
              <a:avLst/>
              <a:gdLst/>
              <a:ahLst/>
              <a:cxnLst/>
              <a:rect r="r" b="b" t="t" l="l"/>
              <a:pathLst>
                <a:path h="1304669" w="1331181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1264844"/>
                  </a:lnTo>
                  <a:cubicBezTo>
                    <a:pt x="1331181" y="1275407"/>
                    <a:pt x="1326985" y="1285536"/>
                    <a:pt x="1319516" y="1293005"/>
                  </a:cubicBezTo>
                  <a:cubicBezTo>
                    <a:pt x="1312047" y="1300474"/>
                    <a:pt x="1301918" y="1304669"/>
                    <a:pt x="1291355" y="1304669"/>
                  </a:cubicBezTo>
                  <a:lnTo>
                    <a:pt x="39825" y="1304669"/>
                  </a:lnTo>
                  <a:cubicBezTo>
                    <a:pt x="17830" y="1304669"/>
                    <a:pt x="0" y="1286839"/>
                    <a:pt x="0" y="1264844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1D8AC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331181" cy="1418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📐</a:t>
              </a:r>
            </a:p>
            <a:p>
              <a:pPr algn="ctr">
                <a:lnSpc>
                  <a:spcPts val="1400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Measurement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P.O. Delay = P.O. Created Date − Requirement Date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(Positive = late; Negative = early)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36681" y="4143583"/>
            <a:ext cx="5054326" cy="4953667"/>
            <a:chOff x="0" y="0"/>
            <a:chExt cx="1331181" cy="1304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1181" cy="1304669"/>
            </a:xfrm>
            <a:custGeom>
              <a:avLst/>
              <a:gdLst/>
              <a:ahLst/>
              <a:cxnLst/>
              <a:rect r="r" b="b" t="t" l="l"/>
              <a:pathLst>
                <a:path h="1304669" w="1331181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1264844"/>
                  </a:lnTo>
                  <a:cubicBezTo>
                    <a:pt x="1331181" y="1275407"/>
                    <a:pt x="1326985" y="1285536"/>
                    <a:pt x="1319516" y="1293005"/>
                  </a:cubicBezTo>
                  <a:cubicBezTo>
                    <a:pt x="1312047" y="1300474"/>
                    <a:pt x="1301918" y="1304669"/>
                    <a:pt x="1291355" y="1304669"/>
                  </a:cubicBezTo>
                  <a:lnTo>
                    <a:pt x="39825" y="1304669"/>
                  </a:lnTo>
                  <a:cubicBezTo>
                    <a:pt x="17830" y="1304669"/>
                    <a:pt x="0" y="1286839"/>
                    <a:pt x="0" y="1264844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1E4B8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1331181" cy="1418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🔍</a:t>
              </a:r>
            </a:p>
            <a:p>
              <a:pPr algn="ctr">
                <a:lnSpc>
                  <a:spcPts val="1400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Study Focus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Analyse delay patterns across plants, customers &amp; material types using SAP data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70071" y="1792224"/>
            <a:ext cx="2758022" cy="8279916"/>
            <a:chOff x="0" y="0"/>
            <a:chExt cx="726393" cy="2180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6393" cy="2180719"/>
            </a:xfrm>
            <a:custGeom>
              <a:avLst/>
              <a:gdLst/>
              <a:ahLst/>
              <a:cxnLst/>
              <a:rect r="r" b="b" t="t" l="l"/>
              <a:pathLst>
                <a:path h="2180719" w="726393">
                  <a:moveTo>
                    <a:pt x="70176" y="0"/>
                  </a:moveTo>
                  <a:lnTo>
                    <a:pt x="656216" y="0"/>
                  </a:lnTo>
                  <a:cubicBezTo>
                    <a:pt x="694974" y="0"/>
                    <a:pt x="726393" y="31419"/>
                    <a:pt x="726393" y="70176"/>
                  </a:cubicBezTo>
                  <a:lnTo>
                    <a:pt x="726393" y="2110542"/>
                  </a:lnTo>
                  <a:cubicBezTo>
                    <a:pt x="726393" y="2149300"/>
                    <a:pt x="694974" y="2180719"/>
                    <a:pt x="656216" y="2180719"/>
                  </a:cubicBezTo>
                  <a:lnTo>
                    <a:pt x="70176" y="2180719"/>
                  </a:lnTo>
                  <a:cubicBezTo>
                    <a:pt x="31419" y="2180719"/>
                    <a:pt x="0" y="2149300"/>
                    <a:pt x="0" y="2110542"/>
                  </a:cubicBezTo>
                  <a:lnTo>
                    <a:pt x="0" y="70176"/>
                  </a:lnTo>
                  <a:cubicBezTo>
                    <a:pt x="0" y="31419"/>
                    <a:pt x="31419" y="0"/>
                    <a:pt x="70176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26393" cy="221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SAP system exports: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P.O. Status, Pending P.O.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&amp; Order Book Reports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87700" y="7120890"/>
            <a:ext cx="3849053" cy="4114800"/>
          </a:xfrm>
          <a:custGeom>
            <a:avLst/>
            <a:gdLst/>
            <a:ahLst/>
            <a:cxnLst/>
            <a:rect r="r" b="b" t="t" l="l"/>
            <a:pathLst>
              <a:path h="4114800" w="3849053">
                <a:moveTo>
                  <a:pt x="0" y="0"/>
                </a:moveTo>
                <a:lnTo>
                  <a:pt x="3849052" y="0"/>
                </a:lnTo>
                <a:lnTo>
                  <a:pt x="38490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72800" y="0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10626" y="2037269"/>
            <a:ext cx="1676911" cy="167691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51943" y="1792224"/>
            <a:ext cx="2758022" cy="8279916"/>
            <a:chOff x="0" y="0"/>
            <a:chExt cx="726393" cy="2180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6393" cy="2180719"/>
            </a:xfrm>
            <a:custGeom>
              <a:avLst/>
              <a:gdLst/>
              <a:ahLst/>
              <a:cxnLst/>
              <a:rect r="r" b="b" t="t" l="l"/>
              <a:pathLst>
                <a:path h="2180719" w="726393">
                  <a:moveTo>
                    <a:pt x="70176" y="0"/>
                  </a:moveTo>
                  <a:lnTo>
                    <a:pt x="656216" y="0"/>
                  </a:lnTo>
                  <a:cubicBezTo>
                    <a:pt x="694974" y="0"/>
                    <a:pt x="726393" y="31419"/>
                    <a:pt x="726393" y="70176"/>
                  </a:cubicBezTo>
                  <a:lnTo>
                    <a:pt x="726393" y="2110542"/>
                  </a:lnTo>
                  <a:cubicBezTo>
                    <a:pt x="726393" y="2149300"/>
                    <a:pt x="694974" y="2180719"/>
                    <a:pt x="656216" y="2180719"/>
                  </a:cubicBezTo>
                  <a:lnTo>
                    <a:pt x="70176" y="2180719"/>
                  </a:lnTo>
                  <a:cubicBezTo>
                    <a:pt x="31419" y="2180719"/>
                    <a:pt x="0" y="2149300"/>
                    <a:pt x="0" y="2110542"/>
                  </a:cubicBezTo>
                  <a:lnTo>
                    <a:pt x="0" y="70176"/>
                  </a:lnTo>
                  <a:cubicBezTo>
                    <a:pt x="0" y="31419"/>
                    <a:pt x="31419" y="0"/>
                    <a:pt x="70176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6393" cy="221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Remove duplicates, handle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missing values, standardise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date formats in Excel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33816" y="1792224"/>
            <a:ext cx="2758022" cy="8279916"/>
            <a:chOff x="0" y="0"/>
            <a:chExt cx="726393" cy="2180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6393" cy="2180719"/>
            </a:xfrm>
            <a:custGeom>
              <a:avLst/>
              <a:gdLst/>
              <a:ahLst/>
              <a:cxnLst/>
              <a:rect r="r" b="b" t="t" l="l"/>
              <a:pathLst>
                <a:path h="2180719" w="726393">
                  <a:moveTo>
                    <a:pt x="70176" y="0"/>
                  </a:moveTo>
                  <a:lnTo>
                    <a:pt x="656216" y="0"/>
                  </a:lnTo>
                  <a:cubicBezTo>
                    <a:pt x="694974" y="0"/>
                    <a:pt x="726393" y="31419"/>
                    <a:pt x="726393" y="70176"/>
                  </a:cubicBezTo>
                  <a:lnTo>
                    <a:pt x="726393" y="2110542"/>
                  </a:lnTo>
                  <a:cubicBezTo>
                    <a:pt x="726393" y="2149300"/>
                    <a:pt x="694974" y="2180719"/>
                    <a:pt x="656216" y="2180719"/>
                  </a:cubicBezTo>
                  <a:lnTo>
                    <a:pt x="70176" y="2180719"/>
                  </a:lnTo>
                  <a:cubicBezTo>
                    <a:pt x="31419" y="2180719"/>
                    <a:pt x="0" y="2149300"/>
                    <a:pt x="0" y="2110542"/>
                  </a:cubicBezTo>
                  <a:lnTo>
                    <a:pt x="0" y="70176"/>
                  </a:lnTo>
                  <a:cubicBezTo>
                    <a:pt x="0" y="31419"/>
                    <a:pt x="31419" y="0"/>
                    <a:pt x="70176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26393" cy="221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On-Time / Minor /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Moderate / Critical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(less than 10, 11-40, 41-80, 80+)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15688" y="1792224"/>
            <a:ext cx="2758022" cy="8279916"/>
            <a:chOff x="0" y="0"/>
            <a:chExt cx="726393" cy="2180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6393" cy="2180719"/>
            </a:xfrm>
            <a:custGeom>
              <a:avLst/>
              <a:gdLst/>
              <a:ahLst/>
              <a:cxnLst/>
              <a:rect r="r" b="b" t="t" l="l"/>
              <a:pathLst>
                <a:path h="2180719" w="726393">
                  <a:moveTo>
                    <a:pt x="70176" y="0"/>
                  </a:moveTo>
                  <a:lnTo>
                    <a:pt x="656216" y="0"/>
                  </a:lnTo>
                  <a:cubicBezTo>
                    <a:pt x="694974" y="0"/>
                    <a:pt x="726393" y="31419"/>
                    <a:pt x="726393" y="70176"/>
                  </a:cubicBezTo>
                  <a:lnTo>
                    <a:pt x="726393" y="2110542"/>
                  </a:lnTo>
                  <a:cubicBezTo>
                    <a:pt x="726393" y="2149300"/>
                    <a:pt x="694974" y="2180719"/>
                    <a:pt x="656216" y="2180719"/>
                  </a:cubicBezTo>
                  <a:lnTo>
                    <a:pt x="70176" y="2180719"/>
                  </a:lnTo>
                  <a:cubicBezTo>
                    <a:pt x="31419" y="2180719"/>
                    <a:pt x="0" y="2149300"/>
                    <a:pt x="0" y="2110542"/>
                  </a:cubicBezTo>
                  <a:lnTo>
                    <a:pt x="0" y="70176"/>
                  </a:lnTo>
                  <a:cubicBezTo>
                    <a:pt x="0" y="31419"/>
                    <a:pt x="31419" y="0"/>
                    <a:pt x="70176" y="0"/>
                  </a:cubicBezTo>
                  <a:close/>
                </a:path>
              </a:pathLst>
            </a:custGeom>
            <a:solidFill>
              <a:srgbClr val="0071B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26393" cy="221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ANOVA (plant &amp; customer)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Chi-Square test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(delay vs. comment)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01278" y="1792224"/>
            <a:ext cx="2758022" cy="8279916"/>
            <a:chOff x="0" y="0"/>
            <a:chExt cx="726393" cy="2180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6393" cy="2180719"/>
            </a:xfrm>
            <a:custGeom>
              <a:avLst/>
              <a:gdLst/>
              <a:ahLst/>
              <a:cxnLst/>
              <a:rect r="r" b="b" t="t" l="l"/>
              <a:pathLst>
                <a:path h="2180719" w="726393">
                  <a:moveTo>
                    <a:pt x="70176" y="0"/>
                  </a:moveTo>
                  <a:lnTo>
                    <a:pt x="656216" y="0"/>
                  </a:lnTo>
                  <a:cubicBezTo>
                    <a:pt x="694974" y="0"/>
                    <a:pt x="726393" y="31419"/>
                    <a:pt x="726393" y="70176"/>
                  </a:cubicBezTo>
                  <a:lnTo>
                    <a:pt x="726393" y="2110542"/>
                  </a:lnTo>
                  <a:cubicBezTo>
                    <a:pt x="726393" y="2149300"/>
                    <a:pt x="694974" y="2180719"/>
                    <a:pt x="656216" y="2180719"/>
                  </a:cubicBezTo>
                  <a:lnTo>
                    <a:pt x="70176" y="2180719"/>
                  </a:lnTo>
                  <a:cubicBezTo>
                    <a:pt x="31419" y="2180719"/>
                    <a:pt x="0" y="2149300"/>
                    <a:pt x="0" y="2110542"/>
                  </a:cubicBezTo>
                  <a:lnTo>
                    <a:pt x="0" y="70176"/>
                  </a:lnTo>
                  <a:cubicBezTo>
                    <a:pt x="0" y="31419"/>
                    <a:pt x="31419" y="0"/>
                    <a:pt x="7017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26393" cy="221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 dashboards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 operational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pattern discovery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92499" y="2037269"/>
            <a:ext cx="1676911" cy="167691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872002" y="2037269"/>
            <a:ext cx="1676911" cy="167691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58613" y="2037269"/>
            <a:ext cx="1676911" cy="167691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41833" y="2037269"/>
            <a:ext cx="1676911" cy="167691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8640" y="460952"/>
            <a:ext cx="7598851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METHODOLOGY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40098" y="4269736"/>
            <a:ext cx="2417967" cy="8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2751" spc="1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Collection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21971" y="4269736"/>
            <a:ext cx="2417967" cy="8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2751" spc="1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Cleaning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20014" y="4269736"/>
            <a:ext cx="2585625" cy="8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2751" spc="1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Delay Categorisation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88085" y="4269736"/>
            <a:ext cx="2417967" cy="8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2751" spc="1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Statistical Analysis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71305" y="4269736"/>
            <a:ext cx="2417967" cy="46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2751" spc="1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Visualisation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40443" y="2415107"/>
            <a:ext cx="4186807" cy="2486818"/>
            <a:chOff x="0" y="0"/>
            <a:chExt cx="1102698" cy="6549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98" cy="654964"/>
            </a:xfrm>
            <a:custGeom>
              <a:avLst/>
              <a:gdLst/>
              <a:ahLst/>
              <a:cxnLst/>
              <a:rect r="r" b="b" t="t" l="l"/>
              <a:pathLst>
                <a:path h="654964" w="1102698">
                  <a:moveTo>
                    <a:pt x="46228" y="0"/>
                  </a:moveTo>
                  <a:lnTo>
                    <a:pt x="1056470" y="0"/>
                  </a:lnTo>
                  <a:cubicBezTo>
                    <a:pt x="1068731" y="0"/>
                    <a:pt x="1080489" y="4870"/>
                    <a:pt x="1089158" y="13540"/>
                  </a:cubicBezTo>
                  <a:cubicBezTo>
                    <a:pt x="1097828" y="22209"/>
                    <a:pt x="1102698" y="33968"/>
                    <a:pt x="1102698" y="46228"/>
                  </a:cubicBezTo>
                  <a:lnTo>
                    <a:pt x="1102698" y="608736"/>
                  </a:lnTo>
                  <a:cubicBezTo>
                    <a:pt x="1102698" y="634267"/>
                    <a:pt x="1082001" y="654964"/>
                    <a:pt x="1056470" y="654964"/>
                  </a:cubicBezTo>
                  <a:lnTo>
                    <a:pt x="46228" y="654964"/>
                  </a:lnTo>
                  <a:cubicBezTo>
                    <a:pt x="33968" y="654964"/>
                    <a:pt x="22209" y="650094"/>
                    <a:pt x="13540" y="641424"/>
                  </a:cubicBezTo>
                  <a:cubicBezTo>
                    <a:pt x="4870" y="632755"/>
                    <a:pt x="0" y="620997"/>
                    <a:pt x="0" y="608736"/>
                  </a:cubicBezTo>
                  <a:lnTo>
                    <a:pt x="0" y="46228"/>
                  </a:lnTo>
                  <a:cubicBezTo>
                    <a:pt x="0" y="33968"/>
                    <a:pt x="4870" y="22209"/>
                    <a:pt x="13540" y="13540"/>
                  </a:cubicBezTo>
                  <a:cubicBezTo>
                    <a:pt x="22209" y="4870"/>
                    <a:pt x="33968" y="0"/>
                    <a:pt x="46228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02698" cy="693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61626" y="8939784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443" y="797433"/>
            <a:ext cx="6688378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Key Findings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1149071" y="0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0443" y="2745391"/>
            <a:ext cx="4186807" cy="11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b="true" sz="6699" spc="3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42K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443" y="3810159"/>
            <a:ext cx="4186807" cy="3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On-Time P.O.s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42368" y="2415107"/>
            <a:ext cx="4186807" cy="2486818"/>
            <a:chOff x="0" y="0"/>
            <a:chExt cx="1102698" cy="6549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2698" cy="654964"/>
            </a:xfrm>
            <a:custGeom>
              <a:avLst/>
              <a:gdLst/>
              <a:ahLst/>
              <a:cxnLst/>
              <a:rect r="r" b="b" t="t" l="l"/>
              <a:pathLst>
                <a:path h="654964" w="1102698">
                  <a:moveTo>
                    <a:pt x="46228" y="0"/>
                  </a:moveTo>
                  <a:lnTo>
                    <a:pt x="1056470" y="0"/>
                  </a:lnTo>
                  <a:cubicBezTo>
                    <a:pt x="1068731" y="0"/>
                    <a:pt x="1080489" y="4870"/>
                    <a:pt x="1089158" y="13540"/>
                  </a:cubicBezTo>
                  <a:cubicBezTo>
                    <a:pt x="1097828" y="22209"/>
                    <a:pt x="1102698" y="33968"/>
                    <a:pt x="1102698" y="46228"/>
                  </a:cubicBezTo>
                  <a:lnTo>
                    <a:pt x="1102698" y="608736"/>
                  </a:lnTo>
                  <a:cubicBezTo>
                    <a:pt x="1102698" y="634267"/>
                    <a:pt x="1082001" y="654964"/>
                    <a:pt x="1056470" y="654964"/>
                  </a:cubicBezTo>
                  <a:lnTo>
                    <a:pt x="46228" y="654964"/>
                  </a:lnTo>
                  <a:cubicBezTo>
                    <a:pt x="33968" y="654964"/>
                    <a:pt x="22209" y="650094"/>
                    <a:pt x="13540" y="641424"/>
                  </a:cubicBezTo>
                  <a:cubicBezTo>
                    <a:pt x="4870" y="632755"/>
                    <a:pt x="0" y="620997"/>
                    <a:pt x="0" y="608736"/>
                  </a:cubicBezTo>
                  <a:lnTo>
                    <a:pt x="0" y="46228"/>
                  </a:lnTo>
                  <a:cubicBezTo>
                    <a:pt x="0" y="33968"/>
                    <a:pt x="4870" y="22209"/>
                    <a:pt x="13540" y="13540"/>
                  </a:cubicBezTo>
                  <a:cubicBezTo>
                    <a:pt x="22209" y="4870"/>
                    <a:pt x="33968" y="0"/>
                    <a:pt x="46228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02698" cy="693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51529" y="2415107"/>
            <a:ext cx="4186807" cy="2486818"/>
            <a:chOff x="0" y="0"/>
            <a:chExt cx="1102698" cy="6549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698" cy="654964"/>
            </a:xfrm>
            <a:custGeom>
              <a:avLst/>
              <a:gdLst/>
              <a:ahLst/>
              <a:cxnLst/>
              <a:rect r="r" b="b" t="t" l="l"/>
              <a:pathLst>
                <a:path h="654964" w="1102698">
                  <a:moveTo>
                    <a:pt x="46228" y="0"/>
                  </a:moveTo>
                  <a:lnTo>
                    <a:pt x="1056470" y="0"/>
                  </a:lnTo>
                  <a:cubicBezTo>
                    <a:pt x="1068731" y="0"/>
                    <a:pt x="1080489" y="4870"/>
                    <a:pt x="1089158" y="13540"/>
                  </a:cubicBezTo>
                  <a:cubicBezTo>
                    <a:pt x="1097828" y="22209"/>
                    <a:pt x="1102698" y="33968"/>
                    <a:pt x="1102698" y="46228"/>
                  </a:cubicBezTo>
                  <a:lnTo>
                    <a:pt x="1102698" y="608736"/>
                  </a:lnTo>
                  <a:cubicBezTo>
                    <a:pt x="1102698" y="634267"/>
                    <a:pt x="1082001" y="654964"/>
                    <a:pt x="1056470" y="654964"/>
                  </a:cubicBezTo>
                  <a:lnTo>
                    <a:pt x="46228" y="654964"/>
                  </a:lnTo>
                  <a:cubicBezTo>
                    <a:pt x="33968" y="654964"/>
                    <a:pt x="22209" y="650094"/>
                    <a:pt x="13540" y="641424"/>
                  </a:cubicBezTo>
                  <a:cubicBezTo>
                    <a:pt x="4870" y="632755"/>
                    <a:pt x="0" y="620997"/>
                    <a:pt x="0" y="608736"/>
                  </a:cubicBezTo>
                  <a:lnTo>
                    <a:pt x="0" y="46228"/>
                  </a:lnTo>
                  <a:cubicBezTo>
                    <a:pt x="0" y="33968"/>
                    <a:pt x="4870" y="22209"/>
                    <a:pt x="13540" y="13540"/>
                  </a:cubicBezTo>
                  <a:cubicBezTo>
                    <a:pt x="22209" y="4870"/>
                    <a:pt x="33968" y="0"/>
                    <a:pt x="4622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02698" cy="693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1235" y="2415107"/>
            <a:ext cx="4186807" cy="2486818"/>
            <a:chOff x="0" y="0"/>
            <a:chExt cx="1102698" cy="6549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2698" cy="654964"/>
            </a:xfrm>
            <a:custGeom>
              <a:avLst/>
              <a:gdLst/>
              <a:ahLst/>
              <a:cxnLst/>
              <a:rect r="r" b="b" t="t" l="l"/>
              <a:pathLst>
                <a:path h="654964" w="1102698">
                  <a:moveTo>
                    <a:pt x="46228" y="0"/>
                  </a:moveTo>
                  <a:lnTo>
                    <a:pt x="1056470" y="0"/>
                  </a:lnTo>
                  <a:cubicBezTo>
                    <a:pt x="1068731" y="0"/>
                    <a:pt x="1080489" y="4870"/>
                    <a:pt x="1089158" y="13540"/>
                  </a:cubicBezTo>
                  <a:cubicBezTo>
                    <a:pt x="1097828" y="22209"/>
                    <a:pt x="1102698" y="33968"/>
                    <a:pt x="1102698" y="46228"/>
                  </a:cubicBezTo>
                  <a:lnTo>
                    <a:pt x="1102698" y="608736"/>
                  </a:lnTo>
                  <a:cubicBezTo>
                    <a:pt x="1102698" y="634267"/>
                    <a:pt x="1082001" y="654964"/>
                    <a:pt x="1056470" y="654964"/>
                  </a:cubicBezTo>
                  <a:lnTo>
                    <a:pt x="46228" y="654964"/>
                  </a:lnTo>
                  <a:cubicBezTo>
                    <a:pt x="33968" y="654964"/>
                    <a:pt x="22209" y="650094"/>
                    <a:pt x="13540" y="641424"/>
                  </a:cubicBezTo>
                  <a:cubicBezTo>
                    <a:pt x="4870" y="632755"/>
                    <a:pt x="0" y="620997"/>
                    <a:pt x="0" y="608736"/>
                  </a:cubicBezTo>
                  <a:lnTo>
                    <a:pt x="0" y="46228"/>
                  </a:lnTo>
                  <a:cubicBezTo>
                    <a:pt x="0" y="33968"/>
                    <a:pt x="4870" y="22209"/>
                    <a:pt x="13540" y="13540"/>
                  </a:cubicBezTo>
                  <a:cubicBezTo>
                    <a:pt x="22209" y="4870"/>
                    <a:pt x="33968" y="0"/>
                    <a:pt x="46228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02698" cy="693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242368" y="2745391"/>
            <a:ext cx="4186807" cy="11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b="true" sz="6699" spc="3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72 days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51529" y="2745391"/>
            <a:ext cx="4186807" cy="11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b="true" sz="6699" spc="3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129 days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41405" y="2745391"/>
            <a:ext cx="4186807" cy="11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b="true" sz="6699" spc="3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~5,500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41405" y="3810159"/>
            <a:ext cx="4186807" cy="3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Delayed P.O.s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42538" y="3810159"/>
            <a:ext cx="4186807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Peak avg. delay</a:t>
            </a:r>
          </a:p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(Jan 2026)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51529" y="3813588"/>
            <a:ext cx="4186807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Highest customer </a:t>
            </a:r>
          </a:p>
          <a:p>
            <a:pPr algn="ctr">
              <a:lnSpc>
                <a:spcPts val="2832"/>
              </a:lnSpc>
            </a:pPr>
            <a:r>
              <a:rPr lang="en-US" sz="2400" spc="1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avg. delay (CKM)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1663" y="5216250"/>
            <a:ext cx="4500792" cy="46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Statistical Test Results: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9375" y="5753486"/>
            <a:ext cx="17565986" cy="31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075" indent="-297038" lvl="1">
              <a:lnSpc>
                <a:spcPts val="5062"/>
              </a:lnSpc>
              <a:buFont typeface="Arial"/>
              <a:buChar char="•"/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ANOVA (Plant-wise): F = 606.6, p &lt; 0.05 → Significant differences in delay across Plants.</a:t>
            </a:r>
          </a:p>
          <a:p>
            <a:pPr algn="l" marL="594075" indent="-297038" lvl="1">
              <a:lnSpc>
                <a:spcPts val="5062"/>
              </a:lnSpc>
              <a:buFont typeface="Arial"/>
              <a:buChar char="•"/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ANOVA (Customer-wise): F = 1064.5, p &lt; 0.05 → Significant differences across Customers.</a:t>
            </a:r>
          </a:p>
          <a:p>
            <a:pPr algn="l" marL="594075" indent="-297038" lvl="1">
              <a:lnSpc>
                <a:spcPts val="5062"/>
              </a:lnSpc>
              <a:buFont typeface="Arial"/>
              <a:buChar char="•"/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Chi-Square Test: χ² = 49308, p &lt; 0.05 → Delay category is associated with reason category</a:t>
            </a:r>
          </a:p>
          <a:p>
            <a:pPr algn="l" marL="594075" indent="-297038" lvl="1">
              <a:lnSpc>
                <a:spcPts val="5062"/>
              </a:lnSpc>
              <a:buFont typeface="Arial"/>
              <a:buChar char="•"/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Top delay reason: System/Verification Issues (30%) followed by Delivery/Approval issues (22%)</a:t>
            </a:r>
          </a:p>
          <a:p>
            <a:pPr algn="l">
              <a:lnSpc>
                <a:spcPts val="506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7610" y="653629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4741" y="2138777"/>
            <a:ext cx="13841684" cy="7865646"/>
          </a:xfrm>
          <a:custGeom>
            <a:avLst/>
            <a:gdLst/>
            <a:ahLst/>
            <a:cxnLst/>
            <a:rect r="r" b="b" t="t" l="l"/>
            <a:pathLst>
              <a:path h="7865646" w="13841684">
                <a:moveTo>
                  <a:pt x="0" y="0"/>
                </a:moveTo>
                <a:lnTo>
                  <a:pt x="13841684" y="0"/>
                </a:lnTo>
                <a:lnTo>
                  <a:pt x="13841684" y="7865646"/>
                </a:lnTo>
                <a:lnTo>
                  <a:pt x="0" y="7865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4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397" y="598851"/>
            <a:ext cx="6903919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Visualisation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2080885" y="0"/>
            <a:ext cx="6207115" cy="4114800"/>
          </a:xfrm>
          <a:custGeom>
            <a:avLst/>
            <a:gdLst/>
            <a:ahLst/>
            <a:cxnLst/>
            <a:rect r="r" b="b" t="t" l="l"/>
            <a:pathLst>
              <a:path h="4114800" w="6207115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641" y="685304"/>
            <a:ext cx="9058722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Recommendations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47641" y="2202336"/>
            <a:ext cx="5434739" cy="2941164"/>
            <a:chOff x="0" y="0"/>
            <a:chExt cx="1431372" cy="774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1372" cy="774628"/>
            </a:xfrm>
            <a:custGeom>
              <a:avLst/>
              <a:gdLst/>
              <a:ahLst/>
              <a:cxnLst/>
              <a:rect r="r" b="b" t="t" l="l"/>
              <a:pathLst>
                <a:path h="774628" w="1431372">
                  <a:moveTo>
                    <a:pt x="35613" y="0"/>
                  </a:moveTo>
                  <a:lnTo>
                    <a:pt x="1395759" y="0"/>
                  </a:lnTo>
                  <a:cubicBezTo>
                    <a:pt x="1405204" y="0"/>
                    <a:pt x="1414262" y="3752"/>
                    <a:pt x="1420941" y="10431"/>
                  </a:cubicBezTo>
                  <a:cubicBezTo>
                    <a:pt x="1427620" y="17110"/>
                    <a:pt x="1431372" y="26168"/>
                    <a:pt x="1431372" y="35613"/>
                  </a:cubicBezTo>
                  <a:lnTo>
                    <a:pt x="1431372" y="739015"/>
                  </a:lnTo>
                  <a:cubicBezTo>
                    <a:pt x="1431372" y="748460"/>
                    <a:pt x="1427620" y="757518"/>
                    <a:pt x="1420941" y="764197"/>
                  </a:cubicBezTo>
                  <a:cubicBezTo>
                    <a:pt x="1414262" y="770876"/>
                    <a:pt x="1405204" y="774628"/>
                    <a:pt x="1395759" y="774628"/>
                  </a:cubicBezTo>
                  <a:lnTo>
                    <a:pt x="35613" y="774628"/>
                  </a:lnTo>
                  <a:cubicBezTo>
                    <a:pt x="15945" y="774628"/>
                    <a:pt x="0" y="758683"/>
                    <a:pt x="0" y="739015"/>
                  </a:cubicBezTo>
                  <a:lnTo>
                    <a:pt x="0" y="35613"/>
                  </a:lnTo>
                  <a:cubicBezTo>
                    <a:pt x="0" y="15945"/>
                    <a:pt x="15945" y="0"/>
                    <a:pt x="3561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31372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C3877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 staff to record concise business reasons for every P.O. delay in SAP to enable accurate root-cause analysis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125200" y="152400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0" y="8727254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236796" y="2202336"/>
            <a:ext cx="5434739" cy="2941164"/>
            <a:chOff x="0" y="0"/>
            <a:chExt cx="1431372" cy="7746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1372" cy="774628"/>
            </a:xfrm>
            <a:custGeom>
              <a:avLst/>
              <a:gdLst/>
              <a:ahLst/>
              <a:cxnLst/>
              <a:rect r="r" b="b" t="t" l="l"/>
              <a:pathLst>
                <a:path h="774628" w="1431372">
                  <a:moveTo>
                    <a:pt x="35613" y="0"/>
                  </a:moveTo>
                  <a:lnTo>
                    <a:pt x="1395759" y="0"/>
                  </a:lnTo>
                  <a:cubicBezTo>
                    <a:pt x="1405204" y="0"/>
                    <a:pt x="1414262" y="3752"/>
                    <a:pt x="1420941" y="10431"/>
                  </a:cubicBezTo>
                  <a:cubicBezTo>
                    <a:pt x="1427620" y="17110"/>
                    <a:pt x="1431372" y="26168"/>
                    <a:pt x="1431372" y="35613"/>
                  </a:cubicBezTo>
                  <a:lnTo>
                    <a:pt x="1431372" y="739015"/>
                  </a:lnTo>
                  <a:cubicBezTo>
                    <a:pt x="1431372" y="748460"/>
                    <a:pt x="1427620" y="757518"/>
                    <a:pt x="1420941" y="764197"/>
                  </a:cubicBezTo>
                  <a:cubicBezTo>
                    <a:pt x="1414262" y="770876"/>
                    <a:pt x="1405204" y="774628"/>
                    <a:pt x="1395759" y="774628"/>
                  </a:cubicBezTo>
                  <a:lnTo>
                    <a:pt x="35613" y="774628"/>
                  </a:lnTo>
                  <a:cubicBezTo>
                    <a:pt x="15945" y="774628"/>
                    <a:pt x="0" y="758683"/>
                    <a:pt x="0" y="739015"/>
                  </a:cubicBezTo>
                  <a:lnTo>
                    <a:pt x="0" y="35613"/>
                  </a:lnTo>
                  <a:cubicBezTo>
                    <a:pt x="0" y="15945"/>
                    <a:pt x="15945" y="0"/>
                    <a:pt x="3561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31372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C3877"/>
                  </a:solidFill>
                  <a:latin typeface="Open Sans"/>
                  <a:ea typeface="Open Sans"/>
                  <a:cs typeface="Open Sans"/>
                  <a:sym typeface="Open Sans"/>
                </a:rPr>
                <a:t>Strengthen coordination between Planning, Procurement &amp; Production teams to ensure timely P.O. initiation.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25951" y="2202336"/>
            <a:ext cx="5434739" cy="2941164"/>
            <a:chOff x="0" y="0"/>
            <a:chExt cx="1431372" cy="7746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1372" cy="774628"/>
            </a:xfrm>
            <a:custGeom>
              <a:avLst/>
              <a:gdLst/>
              <a:ahLst/>
              <a:cxnLst/>
              <a:rect r="r" b="b" t="t" l="l"/>
              <a:pathLst>
                <a:path h="774628" w="1431372">
                  <a:moveTo>
                    <a:pt x="35613" y="0"/>
                  </a:moveTo>
                  <a:lnTo>
                    <a:pt x="1395759" y="0"/>
                  </a:lnTo>
                  <a:cubicBezTo>
                    <a:pt x="1405204" y="0"/>
                    <a:pt x="1414262" y="3752"/>
                    <a:pt x="1420941" y="10431"/>
                  </a:cubicBezTo>
                  <a:cubicBezTo>
                    <a:pt x="1427620" y="17110"/>
                    <a:pt x="1431372" y="26168"/>
                    <a:pt x="1431372" y="35613"/>
                  </a:cubicBezTo>
                  <a:lnTo>
                    <a:pt x="1431372" y="739015"/>
                  </a:lnTo>
                  <a:cubicBezTo>
                    <a:pt x="1431372" y="748460"/>
                    <a:pt x="1427620" y="757518"/>
                    <a:pt x="1420941" y="764197"/>
                  </a:cubicBezTo>
                  <a:cubicBezTo>
                    <a:pt x="1414262" y="770876"/>
                    <a:pt x="1405204" y="774628"/>
                    <a:pt x="1395759" y="774628"/>
                  </a:cubicBezTo>
                  <a:lnTo>
                    <a:pt x="35613" y="774628"/>
                  </a:lnTo>
                  <a:cubicBezTo>
                    <a:pt x="15945" y="774628"/>
                    <a:pt x="0" y="758683"/>
                    <a:pt x="0" y="739015"/>
                  </a:cubicBezTo>
                  <a:lnTo>
                    <a:pt x="0" y="35613"/>
                  </a:lnTo>
                  <a:cubicBezTo>
                    <a:pt x="0" y="15945"/>
                    <a:pt x="15945" y="0"/>
                    <a:pt x="3561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31372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C3877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 automated Power BI dashboards to continuously monitor procurement performance and flag emerging delays.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65010" y="5400675"/>
            <a:ext cx="5434739" cy="2941164"/>
            <a:chOff x="0" y="0"/>
            <a:chExt cx="1431372" cy="774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1372" cy="774628"/>
            </a:xfrm>
            <a:custGeom>
              <a:avLst/>
              <a:gdLst/>
              <a:ahLst/>
              <a:cxnLst/>
              <a:rect r="r" b="b" t="t" l="l"/>
              <a:pathLst>
                <a:path h="774628" w="1431372">
                  <a:moveTo>
                    <a:pt x="35613" y="0"/>
                  </a:moveTo>
                  <a:lnTo>
                    <a:pt x="1395759" y="0"/>
                  </a:lnTo>
                  <a:cubicBezTo>
                    <a:pt x="1405204" y="0"/>
                    <a:pt x="1414262" y="3752"/>
                    <a:pt x="1420941" y="10431"/>
                  </a:cubicBezTo>
                  <a:cubicBezTo>
                    <a:pt x="1427620" y="17110"/>
                    <a:pt x="1431372" y="26168"/>
                    <a:pt x="1431372" y="35613"/>
                  </a:cubicBezTo>
                  <a:lnTo>
                    <a:pt x="1431372" y="739015"/>
                  </a:lnTo>
                  <a:cubicBezTo>
                    <a:pt x="1431372" y="748460"/>
                    <a:pt x="1427620" y="757518"/>
                    <a:pt x="1420941" y="764197"/>
                  </a:cubicBezTo>
                  <a:cubicBezTo>
                    <a:pt x="1414262" y="770876"/>
                    <a:pt x="1405204" y="774628"/>
                    <a:pt x="1395759" y="774628"/>
                  </a:cubicBezTo>
                  <a:lnTo>
                    <a:pt x="35613" y="774628"/>
                  </a:lnTo>
                  <a:cubicBezTo>
                    <a:pt x="15945" y="774628"/>
                    <a:pt x="0" y="758683"/>
                    <a:pt x="0" y="739015"/>
                  </a:cubicBezTo>
                  <a:lnTo>
                    <a:pt x="0" y="35613"/>
                  </a:lnTo>
                  <a:cubicBezTo>
                    <a:pt x="0" y="15945"/>
                    <a:pt x="15945" y="0"/>
                    <a:pt x="3561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31372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C3877"/>
                  </a:solidFill>
                  <a:latin typeface="Open Sans"/>
                  <a:ea typeface="Open Sans"/>
                  <a:cs typeface="Open Sans"/>
                  <a:sym typeface="Open Sans"/>
                </a:rPr>
                <a:t>Share best practices from high-performing plants across all locations to reduce inter-plant performance variation.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8582" y="5400675"/>
            <a:ext cx="5434739" cy="2941164"/>
            <a:chOff x="0" y="0"/>
            <a:chExt cx="1431372" cy="7746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1372" cy="774628"/>
            </a:xfrm>
            <a:custGeom>
              <a:avLst/>
              <a:gdLst/>
              <a:ahLst/>
              <a:cxnLst/>
              <a:rect r="r" b="b" t="t" l="l"/>
              <a:pathLst>
                <a:path h="774628" w="1431372">
                  <a:moveTo>
                    <a:pt x="35613" y="0"/>
                  </a:moveTo>
                  <a:lnTo>
                    <a:pt x="1395759" y="0"/>
                  </a:lnTo>
                  <a:cubicBezTo>
                    <a:pt x="1405204" y="0"/>
                    <a:pt x="1414262" y="3752"/>
                    <a:pt x="1420941" y="10431"/>
                  </a:cubicBezTo>
                  <a:cubicBezTo>
                    <a:pt x="1427620" y="17110"/>
                    <a:pt x="1431372" y="26168"/>
                    <a:pt x="1431372" y="35613"/>
                  </a:cubicBezTo>
                  <a:lnTo>
                    <a:pt x="1431372" y="739015"/>
                  </a:lnTo>
                  <a:cubicBezTo>
                    <a:pt x="1431372" y="748460"/>
                    <a:pt x="1427620" y="757518"/>
                    <a:pt x="1420941" y="764197"/>
                  </a:cubicBezTo>
                  <a:cubicBezTo>
                    <a:pt x="1414262" y="770876"/>
                    <a:pt x="1405204" y="774628"/>
                    <a:pt x="1395759" y="774628"/>
                  </a:cubicBezTo>
                  <a:lnTo>
                    <a:pt x="35613" y="774628"/>
                  </a:lnTo>
                  <a:cubicBezTo>
                    <a:pt x="15945" y="774628"/>
                    <a:pt x="0" y="758683"/>
                    <a:pt x="0" y="739015"/>
                  </a:cubicBezTo>
                  <a:lnTo>
                    <a:pt x="0" y="35613"/>
                  </a:lnTo>
                  <a:cubicBezTo>
                    <a:pt x="0" y="15945"/>
                    <a:pt x="15945" y="0"/>
                    <a:pt x="35613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31372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C3877"/>
                  </a:solidFill>
                  <a:latin typeface="Open Sans"/>
                  <a:ea typeface="Open Sans"/>
                  <a:cs typeface="Open Sans"/>
                  <a:sym typeface="Open Sans"/>
                </a:rPr>
                <a:t>Conduct periodic operational reviews using data analytics to detect inefficiencies before they impact production.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9216" y="2390598"/>
            <a:ext cx="5193164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Mandatory Delay  Documentation</a:t>
            </a:r>
          </a:p>
          <a:p>
            <a:pPr algn="l">
              <a:lnSpc>
                <a:spcPts val="324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538765" y="2389579"/>
            <a:ext cx="5132770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Improve Cross-Team Communication</a:t>
            </a:r>
          </a:p>
          <a:p>
            <a:pPr algn="l">
              <a:lnSpc>
                <a:spcPts val="324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328760" y="2388559"/>
            <a:ext cx="5131930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Real-Time Monitoring Dashboard</a:t>
            </a:r>
          </a:p>
          <a:p>
            <a:pPr algn="l">
              <a:lnSpc>
                <a:spcPts val="324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386278" y="5652038"/>
            <a:ext cx="4992203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Standardise Plant Procedures</a:t>
            </a:r>
          </a:p>
          <a:p>
            <a:pPr algn="l">
              <a:lnSpc>
                <a:spcPts val="3246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506363" y="5652038"/>
            <a:ext cx="4871415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Routine Data-Driven Reviews</a:t>
            </a:r>
          </a:p>
          <a:p>
            <a:pPr algn="l">
              <a:lnSpc>
                <a:spcPts val="324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900" y="470477"/>
            <a:ext cx="11011455" cy="121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1"/>
              </a:lnSpc>
            </a:pPr>
            <a:r>
              <a:rPr lang="en-US" sz="89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New Knowledge Gained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6630" y="1720273"/>
            <a:ext cx="11453989" cy="1801444"/>
            <a:chOff x="0" y="0"/>
            <a:chExt cx="3016688" cy="474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6688" cy="474454"/>
            </a:xfrm>
            <a:custGeom>
              <a:avLst/>
              <a:gdLst/>
              <a:ahLst/>
              <a:cxnLst/>
              <a:rect r="r" b="b" t="t" l="l"/>
              <a:pathLst>
                <a:path h="474454" w="3016688">
                  <a:moveTo>
                    <a:pt x="16898" y="0"/>
                  </a:moveTo>
                  <a:lnTo>
                    <a:pt x="2999791" y="0"/>
                  </a:lnTo>
                  <a:cubicBezTo>
                    <a:pt x="3009123" y="0"/>
                    <a:pt x="3016688" y="7565"/>
                    <a:pt x="3016688" y="16898"/>
                  </a:cubicBezTo>
                  <a:lnTo>
                    <a:pt x="3016688" y="457557"/>
                  </a:lnTo>
                  <a:cubicBezTo>
                    <a:pt x="3016688" y="462038"/>
                    <a:pt x="3014908" y="466336"/>
                    <a:pt x="3011739" y="469505"/>
                  </a:cubicBezTo>
                  <a:cubicBezTo>
                    <a:pt x="3008570" y="472674"/>
                    <a:pt x="3004272" y="474454"/>
                    <a:pt x="2999791" y="474454"/>
                  </a:cubicBezTo>
                  <a:lnTo>
                    <a:pt x="16898" y="474454"/>
                  </a:lnTo>
                  <a:cubicBezTo>
                    <a:pt x="7565" y="474454"/>
                    <a:pt x="0" y="466889"/>
                    <a:pt x="0" y="457557"/>
                  </a:cubicBezTo>
                  <a:lnTo>
                    <a:pt x="0" y="16898"/>
                  </a:lnTo>
                  <a:cubicBezTo>
                    <a:pt x="0" y="7565"/>
                    <a:pt x="7565" y="0"/>
                    <a:pt x="1689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016688" cy="51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26630" y="3931667"/>
            <a:ext cx="11453989" cy="1801444"/>
            <a:chOff x="0" y="0"/>
            <a:chExt cx="3016688" cy="4744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6688" cy="474454"/>
            </a:xfrm>
            <a:custGeom>
              <a:avLst/>
              <a:gdLst/>
              <a:ahLst/>
              <a:cxnLst/>
              <a:rect r="r" b="b" t="t" l="l"/>
              <a:pathLst>
                <a:path h="474454" w="3016688">
                  <a:moveTo>
                    <a:pt x="16898" y="0"/>
                  </a:moveTo>
                  <a:lnTo>
                    <a:pt x="2999791" y="0"/>
                  </a:lnTo>
                  <a:cubicBezTo>
                    <a:pt x="3009123" y="0"/>
                    <a:pt x="3016688" y="7565"/>
                    <a:pt x="3016688" y="16898"/>
                  </a:cubicBezTo>
                  <a:lnTo>
                    <a:pt x="3016688" y="457557"/>
                  </a:lnTo>
                  <a:cubicBezTo>
                    <a:pt x="3016688" y="462038"/>
                    <a:pt x="3014908" y="466336"/>
                    <a:pt x="3011739" y="469505"/>
                  </a:cubicBezTo>
                  <a:cubicBezTo>
                    <a:pt x="3008570" y="472674"/>
                    <a:pt x="3004272" y="474454"/>
                    <a:pt x="2999791" y="474454"/>
                  </a:cubicBezTo>
                  <a:lnTo>
                    <a:pt x="16898" y="474454"/>
                  </a:lnTo>
                  <a:cubicBezTo>
                    <a:pt x="7565" y="474454"/>
                    <a:pt x="0" y="466889"/>
                    <a:pt x="0" y="457557"/>
                  </a:cubicBezTo>
                  <a:lnTo>
                    <a:pt x="0" y="16898"/>
                  </a:lnTo>
                  <a:cubicBezTo>
                    <a:pt x="0" y="7565"/>
                    <a:pt x="7565" y="0"/>
                    <a:pt x="1689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16688" cy="51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26630" y="6143062"/>
            <a:ext cx="11453989" cy="1801444"/>
            <a:chOff x="0" y="0"/>
            <a:chExt cx="3016688" cy="4744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16688" cy="474454"/>
            </a:xfrm>
            <a:custGeom>
              <a:avLst/>
              <a:gdLst/>
              <a:ahLst/>
              <a:cxnLst/>
              <a:rect r="r" b="b" t="t" l="l"/>
              <a:pathLst>
                <a:path h="474454" w="3016688">
                  <a:moveTo>
                    <a:pt x="16898" y="0"/>
                  </a:moveTo>
                  <a:lnTo>
                    <a:pt x="2999791" y="0"/>
                  </a:lnTo>
                  <a:cubicBezTo>
                    <a:pt x="3009123" y="0"/>
                    <a:pt x="3016688" y="7565"/>
                    <a:pt x="3016688" y="16898"/>
                  </a:cubicBezTo>
                  <a:lnTo>
                    <a:pt x="3016688" y="457557"/>
                  </a:lnTo>
                  <a:cubicBezTo>
                    <a:pt x="3016688" y="462038"/>
                    <a:pt x="3014908" y="466336"/>
                    <a:pt x="3011739" y="469505"/>
                  </a:cubicBezTo>
                  <a:cubicBezTo>
                    <a:pt x="3008570" y="472674"/>
                    <a:pt x="3004272" y="474454"/>
                    <a:pt x="2999791" y="474454"/>
                  </a:cubicBezTo>
                  <a:lnTo>
                    <a:pt x="16898" y="474454"/>
                  </a:lnTo>
                  <a:cubicBezTo>
                    <a:pt x="7565" y="474454"/>
                    <a:pt x="0" y="466889"/>
                    <a:pt x="0" y="457557"/>
                  </a:cubicBezTo>
                  <a:lnTo>
                    <a:pt x="0" y="16898"/>
                  </a:lnTo>
                  <a:cubicBezTo>
                    <a:pt x="0" y="7565"/>
                    <a:pt x="7565" y="0"/>
                    <a:pt x="1689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16688" cy="51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26630" y="8354456"/>
            <a:ext cx="11453989" cy="1801444"/>
            <a:chOff x="0" y="0"/>
            <a:chExt cx="3016688" cy="4744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6688" cy="474454"/>
            </a:xfrm>
            <a:custGeom>
              <a:avLst/>
              <a:gdLst/>
              <a:ahLst/>
              <a:cxnLst/>
              <a:rect r="r" b="b" t="t" l="l"/>
              <a:pathLst>
                <a:path h="474454" w="3016688">
                  <a:moveTo>
                    <a:pt x="16898" y="0"/>
                  </a:moveTo>
                  <a:lnTo>
                    <a:pt x="2999791" y="0"/>
                  </a:lnTo>
                  <a:cubicBezTo>
                    <a:pt x="3009123" y="0"/>
                    <a:pt x="3016688" y="7565"/>
                    <a:pt x="3016688" y="16898"/>
                  </a:cubicBezTo>
                  <a:lnTo>
                    <a:pt x="3016688" y="457557"/>
                  </a:lnTo>
                  <a:cubicBezTo>
                    <a:pt x="3016688" y="462038"/>
                    <a:pt x="3014908" y="466336"/>
                    <a:pt x="3011739" y="469505"/>
                  </a:cubicBezTo>
                  <a:cubicBezTo>
                    <a:pt x="3008570" y="472674"/>
                    <a:pt x="3004272" y="474454"/>
                    <a:pt x="2999791" y="474454"/>
                  </a:cubicBezTo>
                  <a:lnTo>
                    <a:pt x="16898" y="474454"/>
                  </a:lnTo>
                  <a:cubicBezTo>
                    <a:pt x="7565" y="474454"/>
                    <a:pt x="0" y="466889"/>
                    <a:pt x="0" y="457557"/>
                  </a:cubicBezTo>
                  <a:lnTo>
                    <a:pt x="0" y="16898"/>
                  </a:lnTo>
                  <a:cubicBezTo>
                    <a:pt x="0" y="7565"/>
                    <a:pt x="7565" y="0"/>
                    <a:pt x="16898" y="0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16688" cy="51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34107" y="1708978"/>
            <a:ext cx="191064" cy="1812738"/>
            <a:chOff x="0" y="0"/>
            <a:chExt cx="50321" cy="4774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321" cy="477429"/>
            </a:xfrm>
            <a:custGeom>
              <a:avLst/>
              <a:gdLst/>
              <a:ahLst/>
              <a:cxnLst/>
              <a:rect r="r" b="b" t="t" l="l"/>
              <a:pathLst>
                <a:path h="477429" w="50321">
                  <a:moveTo>
                    <a:pt x="25161" y="0"/>
                  </a:moveTo>
                  <a:lnTo>
                    <a:pt x="25161" y="0"/>
                  </a:lnTo>
                  <a:cubicBezTo>
                    <a:pt x="39057" y="0"/>
                    <a:pt x="50321" y="11265"/>
                    <a:pt x="50321" y="25161"/>
                  </a:cubicBezTo>
                  <a:lnTo>
                    <a:pt x="50321" y="452268"/>
                  </a:lnTo>
                  <a:cubicBezTo>
                    <a:pt x="50321" y="458941"/>
                    <a:pt x="47671" y="465341"/>
                    <a:pt x="42952" y="470060"/>
                  </a:cubicBezTo>
                  <a:cubicBezTo>
                    <a:pt x="38233" y="474778"/>
                    <a:pt x="31834" y="477429"/>
                    <a:pt x="25161" y="477429"/>
                  </a:cubicBezTo>
                  <a:lnTo>
                    <a:pt x="25161" y="477429"/>
                  </a:lnTo>
                  <a:cubicBezTo>
                    <a:pt x="18488" y="477429"/>
                    <a:pt x="12088" y="474778"/>
                    <a:pt x="7369" y="470060"/>
                  </a:cubicBezTo>
                  <a:cubicBezTo>
                    <a:pt x="2651" y="465341"/>
                    <a:pt x="0" y="458941"/>
                    <a:pt x="0" y="452268"/>
                  </a:cubicBezTo>
                  <a:lnTo>
                    <a:pt x="0" y="25161"/>
                  </a:lnTo>
                  <a:cubicBezTo>
                    <a:pt x="0" y="18488"/>
                    <a:pt x="2651" y="12088"/>
                    <a:pt x="7369" y="7369"/>
                  </a:cubicBezTo>
                  <a:cubicBezTo>
                    <a:pt x="12088" y="2651"/>
                    <a:pt x="18488" y="0"/>
                    <a:pt x="2516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321" cy="515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26630" y="3920373"/>
            <a:ext cx="191064" cy="1812738"/>
            <a:chOff x="0" y="0"/>
            <a:chExt cx="50321" cy="4774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21" cy="477429"/>
            </a:xfrm>
            <a:custGeom>
              <a:avLst/>
              <a:gdLst/>
              <a:ahLst/>
              <a:cxnLst/>
              <a:rect r="r" b="b" t="t" l="l"/>
              <a:pathLst>
                <a:path h="477429" w="50321">
                  <a:moveTo>
                    <a:pt x="25161" y="0"/>
                  </a:moveTo>
                  <a:lnTo>
                    <a:pt x="25161" y="0"/>
                  </a:lnTo>
                  <a:cubicBezTo>
                    <a:pt x="39057" y="0"/>
                    <a:pt x="50321" y="11265"/>
                    <a:pt x="50321" y="25161"/>
                  </a:cubicBezTo>
                  <a:lnTo>
                    <a:pt x="50321" y="452268"/>
                  </a:lnTo>
                  <a:cubicBezTo>
                    <a:pt x="50321" y="458941"/>
                    <a:pt x="47671" y="465341"/>
                    <a:pt x="42952" y="470060"/>
                  </a:cubicBezTo>
                  <a:cubicBezTo>
                    <a:pt x="38233" y="474778"/>
                    <a:pt x="31834" y="477429"/>
                    <a:pt x="25161" y="477429"/>
                  </a:cubicBezTo>
                  <a:lnTo>
                    <a:pt x="25161" y="477429"/>
                  </a:lnTo>
                  <a:cubicBezTo>
                    <a:pt x="18488" y="477429"/>
                    <a:pt x="12088" y="474778"/>
                    <a:pt x="7369" y="470060"/>
                  </a:cubicBezTo>
                  <a:cubicBezTo>
                    <a:pt x="2651" y="465341"/>
                    <a:pt x="0" y="458941"/>
                    <a:pt x="0" y="452268"/>
                  </a:cubicBezTo>
                  <a:lnTo>
                    <a:pt x="0" y="25161"/>
                  </a:lnTo>
                  <a:cubicBezTo>
                    <a:pt x="0" y="18488"/>
                    <a:pt x="2651" y="12088"/>
                    <a:pt x="7369" y="7369"/>
                  </a:cubicBezTo>
                  <a:cubicBezTo>
                    <a:pt x="12088" y="2651"/>
                    <a:pt x="18488" y="0"/>
                    <a:pt x="2516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0321" cy="515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19154" y="6131767"/>
            <a:ext cx="191064" cy="1812738"/>
            <a:chOff x="0" y="0"/>
            <a:chExt cx="50321" cy="4774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321" cy="477429"/>
            </a:xfrm>
            <a:custGeom>
              <a:avLst/>
              <a:gdLst/>
              <a:ahLst/>
              <a:cxnLst/>
              <a:rect r="r" b="b" t="t" l="l"/>
              <a:pathLst>
                <a:path h="477429" w="50321">
                  <a:moveTo>
                    <a:pt x="25161" y="0"/>
                  </a:moveTo>
                  <a:lnTo>
                    <a:pt x="25161" y="0"/>
                  </a:lnTo>
                  <a:cubicBezTo>
                    <a:pt x="39057" y="0"/>
                    <a:pt x="50321" y="11265"/>
                    <a:pt x="50321" y="25161"/>
                  </a:cubicBezTo>
                  <a:lnTo>
                    <a:pt x="50321" y="452268"/>
                  </a:lnTo>
                  <a:cubicBezTo>
                    <a:pt x="50321" y="458941"/>
                    <a:pt x="47671" y="465341"/>
                    <a:pt x="42952" y="470060"/>
                  </a:cubicBezTo>
                  <a:cubicBezTo>
                    <a:pt x="38233" y="474778"/>
                    <a:pt x="31834" y="477429"/>
                    <a:pt x="25161" y="477429"/>
                  </a:cubicBezTo>
                  <a:lnTo>
                    <a:pt x="25161" y="477429"/>
                  </a:lnTo>
                  <a:cubicBezTo>
                    <a:pt x="18488" y="477429"/>
                    <a:pt x="12088" y="474778"/>
                    <a:pt x="7369" y="470060"/>
                  </a:cubicBezTo>
                  <a:cubicBezTo>
                    <a:pt x="2651" y="465341"/>
                    <a:pt x="0" y="458941"/>
                    <a:pt x="0" y="452268"/>
                  </a:cubicBezTo>
                  <a:lnTo>
                    <a:pt x="0" y="25161"/>
                  </a:lnTo>
                  <a:cubicBezTo>
                    <a:pt x="0" y="18488"/>
                    <a:pt x="2651" y="12088"/>
                    <a:pt x="7369" y="7369"/>
                  </a:cubicBezTo>
                  <a:cubicBezTo>
                    <a:pt x="12088" y="2651"/>
                    <a:pt x="18488" y="0"/>
                    <a:pt x="2516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321" cy="515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11677" y="8343162"/>
            <a:ext cx="191064" cy="1812738"/>
            <a:chOff x="0" y="0"/>
            <a:chExt cx="50321" cy="4774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21" cy="477429"/>
            </a:xfrm>
            <a:custGeom>
              <a:avLst/>
              <a:gdLst/>
              <a:ahLst/>
              <a:cxnLst/>
              <a:rect r="r" b="b" t="t" l="l"/>
              <a:pathLst>
                <a:path h="477429" w="50321">
                  <a:moveTo>
                    <a:pt x="25161" y="0"/>
                  </a:moveTo>
                  <a:lnTo>
                    <a:pt x="25161" y="0"/>
                  </a:lnTo>
                  <a:cubicBezTo>
                    <a:pt x="39057" y="0"/>
                    <a:pt x="50321" y="11265"/>
                    <a:pt x="50321" y="25161"/>
                  </a:cubicBezTo>
                  <a:lnTo>
                    <a:pt x="50321" y="452268"/>
                  </a:lnTo>
                  <a:cubicBezTo>
                    <a:pt x="50321" y="458941"/>
                    <a:pt x="47671" y="465341"/>
                    <a:pt x="42952" y="470060"/>
                  </a:cubicBezTo>
                  <a:cubicBezTo>
                    <a:pt x="38233" y="474778"/>
                    <a:pt x="31834" y="477429"/>
                    <a:pt x="25161" y="477429"/>
                  </a:cubicBezTo>
                  <a:lnTo>
                    <a:pt x="25161" y="477429"/>
                  </a:lnTo>
                  <a:cubicBezTo>
                    <a:pt x="18488" y="477429"/>
                    <a:pt x="12088" y="474778"/>
                    <a:pt x="7369" y="470060"/>
                  </a:cubicBezTo>
                  <a:cubicBezTo>
                    <a:pt x="2651" y="465341"/>
                    <a:pt x="0" y="458941"/>
                    <a:pt x="0" y="452268"/>
                  </a:cubicBezTo>
                  <a:lnTo>
                    <a:pt x="0" y="25161"/>
                  </a:lnTo>
                  <a:cubicBezTo>
                    <a:pt x="0" y="18488"/>
                    <a:pt x="2651" y="12088"/>
                    <a:pt x="7369" y="7369"/>
                  </a:cubicBezTo>
                  <a:cubicBezTo>
                    <a:pt x="12088" y="2651"/>
                    <a:pt x="18488" y="0"/>
                    <a:pt x="2516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321" cy="515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8687" y="1720273"/>
            <a:ext cx="6028393" cy="8435628"/>
            <a:chOff x="0" y="0"/>
            <a:chExt cx="1587725" cy="2221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7725" cy="2221729"/>
            </a:xfrm>
            <a:custGeom>
              <a:avLst/>
              <a:gdLst/>
              <a:ahLst/>
              <a:cxnLst/>
              <a:rect r="r" b="b" t="t" l="l"/>
              <a:pathLst>
                <a:path h="2221729" w="1587725">
                  <a:moveTo>
                    <a:pt x="32106" y="0"/>
                  </a:moveTo>
                  <a:lnTo>
                    <a:pt x="1555619" y="0"/>
                  </a:lnTo>
                  <a:cubicBezTo>
                    <a:pt x="1573351" y="0"/>
                    <a:pt x="1587725" y="14374"/>
                    <a:pt x="1587725" y="32106"/>
                  </a:cubicBezTo>
                  <a:lnTo>
                    <a:pt x="1587725" y="2189623"/>
                  </a:lnTo>
                  <a:cubicBezTo>
                    <a:pt x="1587725" y="2207355"/>
                    <a:pt x="1573351" y="2221729"/>
                    <a:pt x="1555619" y="2221729"/>
                  </a:cubicBezTo>
                  <a:lnTo>
                    <a:pt x="32106" y="2221729"/>
                  </a:lnTo>
                  <a:cubicBezTo>
                    <a:pt x="14374" y="2221729"/>
                    <a:pt x="0" y="2207355"/>
                    <a:pt x="0" y="2189623"/>
                  </a:cubicBezTo>
                  <a:lnTo>
                    <a:pt x="0" y="32106"/>
                  </a:lnTo>
                  <a:cubicBezTo>
                    <a:pt x="0" y="14374"/>
                    <a:pt x="14374" y="0"/>
                    <a:pt x="32106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87725" cy="225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121040" y="2068524"/>
            <a:ext cx="2163689" cy="2169111"/>
          </a:xfrm>
          <a:custGeom>
            <a:avLst/>
            <a:gdLst/>
            <a:ahLst/>
            <a:cxnLst/>
            <a:rect r="r" b="b" t="t" l="l"/>
            <a:pathLst>
              <a:path h="2169111" w="2163689">
                <a:moveTo>
                  <a:pt x="0" y="0"/>
                </a:moveTo>
                <a:lnTo>
                  <a:pt x="2163688" y="0"/>
                </a:lnTo>
                <a:lnTo>
                  <a:pt x="2163688" y="2169112"/>
                </a:lnTo>
                <a:lnTo>
                  <a:pt x="0" y="2169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826484" y="1750518"/>
            <a:ext cx="4345929" cy="87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740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SAP ERP in Procurement</a:t>
            </a:r>
          </a:p>
          <a:p>
            <a:pPr algn="l">
              <a:lnSpc>
                <a:spcPts val="323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826484" y="3922977"/>
            <a:ext cx="11110036" cy="87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740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Supply Chain Dynamics</a:t>
            </a:r>
          </a:p>
          <a:p>
            <a:pPr algn="l">
              <a:lnSpc>
                <a:spcPts val="3233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6826484" y="6133161"/>
            <a:ext cx="11110036" cy="87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740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Statistical Hypothesis Testing</a:t>
            </a:r>
          </a:p>
          <a:p>
            <a:pPr algn="l">
              <a:lnSpc>
                <a:spcPts val="3233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826484" y="8387823"/>
            <a:ext cx="11110036" cy="87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740" spc="13" b="true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Comment Analysis</a:t>
            </a:r>
          </a:p>
          <a:p>
            <a:pPr algn="l">
              <a:lnSpc>
                <a:spcPts val="3233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6826484" y="2384339"/>
            <a:ext cx="10848329" cy="10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2340" spc="11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Navigating live SAP modules for P.O. status reports, order books, and pending reports in a real manufacturing environment.</a:t>
            </a:r>
          </a:p>
          <a:p>
            <a:pPr algn="l">
              <a:lnSpc>
                <a:spcPts val="276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6826484" y="4597602"/>
            <a:ext cx="10848329" cy="10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2340" spc="11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Understanding how delays at one point (P.O. creation) cascade through sourcing, production planning, inventory &amp; shipment scheduling.</a:t>
            </a:r>
          </a:p>
          <a:p>
            <a:pPr algn="l">
              <a:lnSpc>
                <a:spcPts val="276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826484" y="6809436"/>
            <a:ext cx="10848329" cy="10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2340" spc="11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Applying ANOVA and Chi-Square tests to real operational data to derive statistically grounded conclusions.</a:t>
            </a:r>
          </a:p>
          <a:p>
            <a:pPr algn="l">
              <a:lnSpc>
                <a:spcPts val="2762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826484" y="9003299"/>
            <a:ext cx="10848329" cy="10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sz="2340" spc="11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Learned to manually code and categorise free-text operational data, a skill essential in qualitative-to-quantitative research.</a:t>
            </a:r>
          </a:p>
          <a:p>
            <a:pPr algn="l">
              <a:lnSpc>
                <a:spcPts val="2762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88687" y="4794566"/>
            <a:ext cx="6028393" cy="131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</a:pPr>
            <a:r>
              <a:rPr lang="en-US" b="true" sz="2840" spc="1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From Classroom</a:t>
            </a:r>
          </a:p>
          <a:p>
            <a:pPr algn="ctr">
              <a:lnSpc>
                <a:spcPts val="3351"/>
              </a:lnSpc>
            </a:pPr>
            <a:r>
              <a:rPr lang="en-US" b="true" sz="2840" spc="1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 Operations</a:t>
            </a:r>
          </a:p>
          <a:p>
            <a:pPr algn="ctr">
              <a:lnSpc>
                <a:spcPts val="335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331900" y="7553784"/>
            <a:ext cx="5748543" cy="131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  <a:r>
              <a:rPr lang="en-US" sz="2340" spc="1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Practical exposure to real-world</a:t>
            </a:r>
          </a:p>
          <a:p>
            <a:pPr algn="ctr">
              <a:lnSpc>
                <a:spcPts val="2762"/>
              </a:lnSpc>
            </a:pPr>
            <a:r>
              <a:rPr lang="en-US" sz="2340" spc="1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procurement operations that</a:t>
            </a:r>
          </a:p>
          <a:p>
            <a:pPr algn="ctr">
              <a:lnSpc>
                <a:spcPts val="2762"/>
              </a:lnSpc>
            </a:pPr>
            <a:r>
              <a:rPr lang="en-US" sz="2340" spc="1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textbooks cannot fully replicate.</a:t>
            </a:r>
          </a:p>
          <a:p>
            <a:pPr algn="ctr">
              <a:lnSpc>
                <a:spcPts val="2054"/>
              </a:lnSpc>
            </a:pPr>
          </a:p>
        </p:txBody>
      </p:sp>
      <p:sp>
        <p:nvSpPr>
          <p:cNvPr name="Freeform 42" id="42"/>
          <p:cNvSpPr/>
          <p:nvPr/>
        </p:nvSpPr>
        <p:spPr>
          <a:xfrm flipH="true" flipV="true" rot="0">
            <a:off x="11149071" y="0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173" y="646372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575" y="585462"/>
            <a:ext cx="14413747" cy="246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Skills Acqui</a:t>
            </a: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red During Training</a:t>
            </a:r>
          </a:p>
          <a:p>
            <a:pPr algn="l">
              <a:lnSpc>
                <a:spcPts val="9561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01737" y="2314870"/>
            <a:ext cx="5911675" cy="7614504"/>
            <a:chOff x="0" y="0"/>
            <a:chExt cx="1556984" cy="20054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984" cy="2005466"/>
            </a:xfrm>
            <a:custGeom>
              <a:avLst/>
              <a:gdLst/>
              <a:ahLst/>
              <a:cxnLst/>
              <a:rect r="r" b="b" t="t" l="l"/>
              <a:pathLst>
                <a:path h="2005466" w="1556984">
                  <a:moveTo>
                    <a:pt x="32740" y="0"/>
                  </a:moveTo>
                  <a:lnTo>
                    <a:pt x="1524244" y="0"/>
                  </a:lnTo>
                  <a:cubicBezTo>
                    <a:pt x="1532928" y="0"/>
                    <a:pt x="1541255" y="3449"/>
                    <a:pt x="1547395" y="9589"/>
                  </a:cubicBezTo>
                  <a:cubicBezTo>
                    <a:pt x="1553535" y="15729"/>
                    <a:pt x="1556984" y="24057"/>
                    <a:pt x="1556984" y="32740"/>
                  </a:cubicBezTo>
                  <a:lnTo>
                    <a:pt x="1556984" y="1972726"/>
                  </a:lnTo>
                  <a:cubicBezTo>
                    <a:pt x="1556984" y="1990808"/>
                    <a:pt x="1542326" y="2005466"/>
                    <a:pt x="1524244" y="2005466"/>
                  </a:cubicBezTo>
                  <a:lnTo>
                    <a:pt x="32740" y="2005466"/>
                  </a:lnTo>
                  <a:cubicBezTo>
                    <a:pt x="14658" y="2005466"/>
                    <a:pt x="0" y="1990808"/>
                    <a:pt x="0" y="1972726"/>
                  </a:cubicBezTo>
                  <a:lnTo>
                    <a:pt x="0" y="32740"/>
                  </a:lnTo>
                  <a:cubicBezTo>
                    <a:pt x="0" y="14658"/>
                    <a:pt x="14658" y="0"/>
                    <a:pt x="3274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6984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1737" y="2314870"/>
            <a:ext cx="5911675" cy="1281483"/>
            <a:chOff x="0" y="0"/>
            <a:chExt cx="711096" cy="1541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096" cy="154145"/>
            </a:xfrm>
            <a:custGeom>
              <a:avLst/>
              <a:gdLst/>
              <a:ahLst/>
              <a:cxnLst/>
              <a:rect r="r" b="b" t="t" l="l"/>
              <a:pathLst>
                <a:path h="154145" w="711096">
                  <a:moveTo>
                    <a:pt x="0" y="0"/>
                  </a:moveTo>
                  <a:lnTo>
                    <a:pt x="711096" y="0"/>
                  </a:lnTo>
                  <a:lnTo>
                    <a:pt x="711096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093F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096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12993" y="2314870"/>
            <a:ext cx="5911675" cy="7614504"/>
            <a:chOff x="0" y="0"/>
            <a:chExt cx="1556984" cy="2005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6984" cy="2005466"/>
            </a:xfrm>
            <a:custGeom>
              <a:avLst/>
              <a:gdLst/>
              <a:ahLst/>
              <a:cxnLst/>
              <a:rect r="r" b="b" t="t" l="l"/>
              <a:pathLst>
                <a:path h="2005466" w="1556984">
                  <a:moveTo>
                    <a:pt x="32740" y="0"/>
                  </a:moveTo>
                  <a:lnTo>
                    <a:pt x="1524244" y="0"/>
                  </a:lnTo>
                  <a:cubicBezTo>
                    <a:pt x="1532928" y="0"/>
                    <a:pt x="1541255" y="3449"/>
                    <a:pt x="1547395" y="9589"/>
                  </a:cubicBezTo>
                  <a:cubicBezTo>
                    <a:pt x="1553535" y="15729"/>
                    <a:pt x="1556984" y="24057"/>
                    <a:pt x="1556984" y="32740"/>
                  </a:cubicBezTo>
                  <a:lnTo>
                    <a:pt x="1556984" y="1972726"/>
                  </a:lnTo>
                  <a:cubicBezTo>
                    <a:pt x="1556984" y="1990808"/>
                    <a:pt x="1542326" y="2005466"/>
                    <a:pt x="1524244" y="2005466"/>
                  </a:cubicBezTo>
                  <a:lnTo>
                    <a:pt x="32740" y="2005466"/>
                  </a:lnTo>
                  <a:cubicBezTo>
                    <a:pt x="14658" y="2005466"/>
                    <a:pt x="0" y="1990808"/>
                    <a:pt x="0" y="1972726"/>
                  </a:cubicBezTo>
                  <a:lnTo>
                    <a:pt x="0" y="32740"/>
                  </a:lnTo>
                  <a:cubicBezTo>
                    <a:pt x="0" y="14658"/>
                    <a:pt x="14658" y="0"/>
                    <a:pt x="3274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6984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24693" y="2314870"/>
            <a:ext cx="5690231" cy="7614504"/>
            <a:chOff x="0" y="0"/>
            <a:chExt cx="1498662" cy="2005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8662" cy="2005466"/>
            </a:xfrm>
            <a:custGeom>
              <a:avLst/>
              <a:gdLst/>
              <a:ahLst/>
              <a:cxnLst/>
              <a:rect r="r" b="b" t="t" l="l"/>
              <a:pathLst>
                <a:path h="2005466" w="1498662">
                  <a:moveTo>
                    <a:pt x="34014" y="0"/>
                  </a:moveTo>
                  <a:lnTo>
                    <a:pt x="1464648" y="0"/>
                  </a:lnTo>
                  <a:cubicBezTo>
                    <a:pt x="1483433" y="0"/>
                    <a:pt x="1498662" y="15229"/>
                    <a:pt x="1498662" y="34014"/>
                  </a:cubicBezTo>
                  <a:lnTo>
                    <a:pt x="1498662" y="1971452"/>
                  </a:lnTo>
                  <a:cubicBezTo>
                    <a:pt x="1498662" y="1980473"/>
                    <a:pt x="1495078" y="1989125"/>
                    <a:pt x="1488699" y="1995503"/>
                  </a:cubicBezTo>
                  <a:cubicBezTo>
                    <a:pt x="1482320" y="2001882"/>
                    <a:pt x="1473669" y="2005466"/>
                    <a:pt x="1464648" y="2005466"/>
                  </a:cubicBezTo>
                  <a:lnTo>
                    <a:pt x="34014" y="2005466"/>
                  </a:lnTo>
                  <a:cubicBezTo>
                    <a:pt x="15229" y="2005466"/>
                    <a:pt x="0" y="1990237"/>
                    <a:pt x="0" y="1971452"/>
                  </a:cubicBezTo>
                  <a:lnTo>
                    <a:pt x="0" y="34014"/>
                  </a:lnTo>
                  <a:cubicBezTo>
                    <a:pt x="0" y="24993"/>
                    <a:pt x="3584" y="16341"/>
                    <a:pt x="9962" y="9962"/>
                  </a:cubicBezTo>
                  <a:cubicBezTo>
                    <a:pt x="16341" y="3584"/>
                    <a:pt x="24993" y="0"/>
                    <a:pt x="3401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98662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12993" y="2314870"/>
            <a:ext cx="5911675" cy="1281483"/>
            <a:chOff x="0" y="0"/>
            <a:chExt cx="711096" cy="1541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096" cy="154145"/>
            </a:xfrm>
            <a:custGeom>
              <a:avLst/>
              <a:gdLst/>
              <a:ahLst/>
              <a:cxnLst/>
              <a:rect r="r" b="b" t="t" l="l"/>
              <a:pathLst>
                <a:path h="154145" w="711096">
                  <a:moveTo>
                    <a:pt x="0" y="0"/>
                  </a:moveTo>
                  <a:lnTo>
                    <a:pt x="711096" y="0"/>
                  </a:lnTo>
                  <a:lnTo>
                    <a:pt x="711096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096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24249" y="2314870"/>
            <a:ext cx="5690675" cy="1281483"/>
            <a:chOff x="0" y="0"/>
            <a:chExt cx="684513" cy="1541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4513" cy="154145"/>
            </a:xfrm>
            <a:custGeom>
              <a:avLst/>
              <a:gdLst/>
              <a:ahLst/>
              <a:cxnLst/>
              <a:rect r="r" b="b" t="t" l="l"/>
              <a:pathLst>
                <a:path h="154145" w="684513">
                  <a:moveTo>
                    <a:pt x="0" y="0"/>
                  </a:moveTo>
                  <a:lnTo>
                    <a:pt x="684513" y="0"/>
                  </a:lnTo>
                  <a:lnTo>
                    <a:pt x="684513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BC3FD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4513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5981" y="2617052"/>
            <a:ext cx="5911231" cy="97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echnical Skills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312993" y="2617052"/>
            <a:ext cx="5911231" cy="97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nalytical Skills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424249" y="2617052"/>
            <a:ext cx="5690231" cy="97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Profess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ional Skills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01893" y="4448082"/>
            <a:ext cx="5619408" cy="481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SAP ERP navigation &amp; report extraction.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SPSS: ANOVA, Chi-Square analysis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Power BI: dashboard design &amp; DAX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Data cleaning (duplicates, date formats, missing values)</a:t>
            </a:r>
          </a:p>
          <a:p>
            <a:pPr algn="just">
              <a:lnSpc>
                <a:spcPts val="4261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true" flipV="true" rot="0">
            <a:off x="15091664" y="-219673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34296" y="4448082"/>
            <a:ext cx="5619408" cy="374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Quantitative research design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Operational data interpretation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Root-cause analysis via comment coding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Pattern identification in large datasets</a:t>
            </a:r>
          </a:p>
          <a:p>
            <a:pPr algn="l">
              <a:lnSpc>
                <a:spcPts val="4261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495516" y="4448082"/>
            <a:ext cx="5619408" cy="481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Cross-departmental communication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Working within corporate timelines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Report writing for industry context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Presenting findings to senior staff</a:t>
            </a:r>
          </a:p>
          <a:p>
            <a:pPr algn="l">
              <a:lnSpc>
                <a:spcPts val="426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641" y="666254"/>
            <a:ext cx="17493724" cy="202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1"/>
              </a:lnSpc>
            </a:pPr>
            <a:r>
              <a:rPr lang="en-US" sz="79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Attitudinal Changes &amp; Personal Growth</a:t>
            </a:r>
          </a:p>
          <a:p>
            <a:pPr algn="l">
              <a:lnSpc>
                <a:spcPts val="746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447641" y="2232533"/>
            <a:ext cx="8112198" cy="925335"/>
            <a:chOff x="0" y="0"/>
            <a:chExt cx="894976" cy="1020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4976" cy="102087"/>
            </a:xfrm>
            <a:custGeom>
              <a:avLst/>
              <a:gdLst/>
              <a:ahLst/>
              <a:cxnLst/>
              <a:rect r="r" b="b" t="t" l="l"/>
              <a:pathLst>
                <a:path h="102087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2087"/>
                  </a:lnTo>
                  <a:lnTo>
                    <a:pt x="0" y="102087"/>
                  </a:lnTo>
                  <a:close/>
                </a:path>
              </a:pathLst>
            </a:custGeom>
            <a:solidFill>
              <a:srgbClr val="FFAD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94976" cy="159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7A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Before Internship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0" y="8727254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29167" y="2232533"/>
            <a:ext cx="8112198" cy="925335"/>
            <a:chOff x="0" y="0"/>
            <a:chExt cx="894976" cy="102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4976" cy="102087"/>
            </a:xfrm>
            <a:custGeom>
              <a:avLst/>
              <a:gdLst/>
              <a:ahLst/>
              <a:cxnLst/>
              <a:rect r="r" b="b" t="t" l="l"/>
              <a:pathLst>
                <a:path h="102087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2087"/>
                  </a:lnTo>
                  <a:lnTo>
                    <a:pt x="0" y="102087"/>
                  </a:lnTo>
                  <a:close/>
                </a:path>
              </a:pathLst>
            </a:custGeom>
            <a:solidFill>
              <a:srgbClr val="BFEC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94976" cy="159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2E641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After Internship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7641" y="3431759"/>
            <a:ext cx="8112198" cy="925335"/>
            <a:chOff x="0" y="0"/>
            <a:chExt cx="894976" cy="1020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4976" cy="102087"/>
            </a:xfrm>
            <a:custGeom>
              <a:avLst/>
              <a:gdLst/>
              <a:ahLst/>
              <a:cxnLst/>
              <a:rect r="r" b="b" t="t" l="l"/>
              <a:pathLst>
                <a:path h="102087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2087"/>
                  </a:lnTo>
                  <a:lnTo>
                    <a:pt x="0" y="102087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4976" cy="149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✗      Viewed data as academic exercises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29167" y="3431759"/>
            <a:ext cx="8112198" cy="925335"/>
            <a:chOff x="0" y="0"/>
            <a:chExt cx="894976" cy="1020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4976" cy="102087"/>
            </a:xfrm>
            <a:custGeom>
              <a:avLst/>
              <a:gdLst/>
              <a:ahLst/>
              <a:cxnLst/>
              <a:rect r="r" b="b" t="t" l="l"/>
              <a:pathLst>
                <a:path h="102087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2087"/>
                  </a:lnTo>
                  <a:lnTo>
                    <a:pt x="0" y="102087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94976" cy="149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 Every data point represents a real operational decision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7641" y="4633319"/>
            <a:ext cx="8112198" cy="925335"/>
            <a:chOff x="0" y="0"/>
            <a:chExt cx="894976" cy="1020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4976" cy="102087"/>
            </a:xfrm>
            <a:custGeom>
              <a:avLst/>
              <a:gdLst/>
              <a:ahLst/>
              <a:cxnLst/>
              <a:rect r="r" b="b" t="t" l="l"/>
              <a:pathLst>
                <a:path h="102087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2087"/>
                  </a:lnTo>
                  <a:lnTo>
                    <a:pt x="0" y="102087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94976" cy="149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✗      Saw statistics as theoretical tools   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7641" y="5834879"/>
            <a:ext cx="8112198" cy="946957"/>
            <a:chOff x="0" y="0"/>
            <a:chExt cx="894976" cy="1044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4976" cy="104473"/>
            </a:xfrm>
            <a:custGeom>
              <a:avLst/>
              <a:gdLst/>
              <a:ahLst/>
              <a:cxnLst/>
              <a:rect r="r" b="b" t="t" l="l"/>
              <a:pathLst>
                <a:path h="10447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4473"/>
                  </a:lnTo>
                  <a:lnTo>
                    <a:pt x="0" y="104473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94976" cy="15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✗      Assumed processes follow textbook models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7641" y="7036439"/>
            <a:ext cx="8112198" cy="946957"/>
            <a:chOff x="0" y="0"/>
            <a:chExt cx="894976" cy="1044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4976" cy="104473"/>
            </a:xfrm>
            <a:custGeom>
              <a:avLst/>
              <a:gdLst/>
              <a:ahLst/>
              <a:cxnLst/>
              <a:rect r="r" b="b" t="t" l="l"/>
              <a:pathLst>
                <a:path h="10447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4473"/>
                  </a:lnTo>
                  <a:lnTo>
                    <a:pt x="0" y="104473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94976" cy="15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✗      Worked in isolation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29167" y="4633319"/>
            <a:ext cx="8112198" cy="946957"/>
            <a:chOff x="0" y="0"/>
            <a:chExt cx="894976" cy="1044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4976" cy="104473"/>
            </a:xfrm>
            <a:custGeom>
              <a:avLst/>
              <a:gdLst/>
              <a:ahLst/>
              <a:cxnLst/>
              <a:rect r="r" b="b" t="t" l="l"/>
              <a:pathLst>
                <a:path h="10447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4473"/>
                  </a:lnTo>
                  <a:lnTo>
                    <a:pt x="0" y="10447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4976" cy="15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Statistics are essential instruments for evidence-based management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29167" y="5834879"/>
            <a:ext cx="8112198" cy="946957"/>
            <a:chOff x="0" y="0"/>
            <a:chExt cx="894976" cy="1044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4976" cy="104473"/>
            </a:xfrm>
            <a:custGeom>
              <a:avLst/>
              <a:gdLst/>
              <a:ahLst/>
              <a:cxnLst/>
              <a:rect r="r" b="b" t="t" l="l"/>
              <a:pathLst>
                <a:path h="10447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4473"/>
                  </a:lnTo>
                  <a:lnTo>
                    <a:pt x="0" y="10447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94976" cy="15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Real operations are messy; adaptation and critical thinking are crucial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29167" y="7036439"/>
            <a:ext cx="8112198" cy="946957"/>
            <a:chOff x="0" y="0"/>
            <a:chExt cx="894976" cy="1044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4976" cy="104473"/>
            </a:xfrm>
            <a:custGeom>
              <a:avLst/>
              <a:gdLst/>
              <a:ahLst/>
              <a:cxnLst/>
              <a:rect r="r" b="b" t="t" l="l"/>
              <a:pathLst>
                <a:path h="10447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04473"/>
                  </a:lnTo>
                  <a:lnTo>
                    <a:pt x="0" y="10447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94976" cy="152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Collaboration &amp; communication across teams is key to operational success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726799" y="3515614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726799" y="4717174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26799" y="5918734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726799" y="7120294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641" y="666254"/>
            <a:ext cx="17493724" cy="307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1"/>
              </a:lnSpc>
            </a:pPr>
            <a:r>
              <a:rPr lang="en-US" sz="79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Challenges Faced &amp; How I Overcame Them</a:t>
            </a:r>
          </a:p>
          <a:p>
            <a:pPr algn="l">
              <a:lnSpc>
                <a:spcPts val="8301"/>
              </a:lnSpc>
            </a:pPr>
          </a:p>
          <a:p>
            <a:pPr algn="l">
              <a:lnSpc>
                <a:spcPts val="746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0" y="8727254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7641" y="2365506"/>
            <a:ext cx="8112198" cy="1374334"/>
            <a:chOff x="0" y="0"/>
            <a:chExt cx="894976" cy="1516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4976" cy="151623"/>
            </a:xfrm>
            <a:custGeom>
              <a:avLst/>
              <a:gdLst/>
              <a:ahLst/>
              <a:cxnLst/>
              <a:rect r="r" b="b" t="t" l="l"/>
              <a:pathLst>
                <a:path h="151623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1623"/>
                  </a:lnTo>
                  <a:lnTo>
                    <a:pt x="0" y="151623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94976" cy="199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💬 Missing business comments for many P.O.s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29167" y="2365506"/>
            <a:ext cx="8112198" cy="1377445"/>
            <a:chOff x="0" y="0"/>
            <a:chExt cx="894976" cy="151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4976" cy="151966"/>
            </a:xfrm>
            <a:custGeom>
              <a:avLst/>
              <a:gdLst/>
              <a:ahLst/>
              <a:cxnLst/>
              <a:rect r="r" b="b" t="t" l="l"/>
              <a:pathLst>
                <a:path h="151966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1966"/>
                  </a:lnTo>
                  <a:lnTo>
                    <a:pt x="0" y="151966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94976" cy="199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Restricted delay-cause analysis to the subset with comments; emailed teams to collect pending reasons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7641" y="4112567"/>
            <a:ext cx="8112198" cy="1361615"/>
            <a:chOff x="0" y="0"/>
            <a:chExt cx="894976" cy="150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4976" cy="150220"/>
            </a:xfrm>
            <a:custGeom>
              <a:avLst/>
              <a:gdLst/>
              <a:ahLst/>
              <a:cxnLst/>
              <a:rect r="r" b="b" t="t" l="l"/>
              <a:pathLst>
                <a:path h="150220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0220"/>
                  </a:lnTo>
                  <a:lnTo>
                    <a:pt x="0" y="150220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4976" cy="19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🗃️ Inconsistent &amp; duplicate SAP data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7641" y="5834879"/>
            <a:ext cx="8112198" cy="1361615"/>
            <a:chOff x="0" y="0"/>
            <a:chExt cx="894976" cy="1502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4976" cy="150220"/>
            </a:xfrm>
            <a:custGeom>
              <a:avLst/>
              <a:gdLst/>
              <a:ahLst/>
              <a:cxnLst/>
              <a:rect r="r" b="b" t="t" l="l"/>
              <a:pathLst>
                <a:path h="150220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0220"/>
                  </a:lnTo>
                  <a:lnTo>
                    <a:pt x="0" y="150220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94976" cy="19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📑 Free-text comments with no standard format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7641" y="7499106"/>
            <a:ext cx="8112198" cy="1403514"/>
            <a:chOff x="0" y="0"/>
            <a:chExt cx="894976" cy="1548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4976" cy="154842"/>
            </a:xfrm>
            <a:custGeom>
              <a:avLst/>
              <a:gdLst/>
              <a:ahLst/>
              <a:cxnLst/>
              <a:rect r="r" b="b" t="t" l="l"/>
              <a:pathLst>
                <a:path h="154842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4842"/>
                  </a:lnTo>
                  <a:lnTo>
                    <a:pt x="0" y="154842"/>
                  </a:lnTo>
                  <a:close/>
                </a:path>
              </a:pathLst>
            </a:custGeom>
            <a:solidFill>
              <a:srgbClr val="FFD6D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94976" cy="202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7A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📅 Limited dataset timespan (6 months)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29167" y="4112567"/>
            <a:ext cx="8112198" cy="1361615"/>
            <a:chOff x="0" y="0"/>
            <a:chExt cx="894976" cy="1502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4976" cy="150220"/>
            </a:xfrm>
            <a:custGeom>
              <a:avLst/>
              <a:gdLst/>
              <a:ahLst/>
              <a:cxnLst/>
              <a:rect r="r" b="b" t="t" l="l"/>
              <a:pathLst>
                <a:path h="150220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0220"/>
                  </a:lnTo>
                  <a:lnTo>
                    <a:pt x="0" y="150220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94976" cy="19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Developed a systematic cleaning process: removed duplicates by P.O. number, standardised date formats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29167" y="5834879"/>
            <a:ext cx="8112198" cy="1361615"/>
            <a:chOff x="0" y="0"/>
            <a:chExt cx="894976" cy="1502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4976" cy="150220"/>
            </a:xfrm>
            <a:custGeom>
              <a:avLst/>
              <a:gdLst/>
              <a:ahLst/>
              <a:cxnLst/>
              <a:rect r="r" b="b" t="t" l="l"/>
              <a:pathLst>
                <a:path h="150220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0220"/>
                  </a:lnTo>
                  <a:lnTo>
                    <a:pt x="0" y="150220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94976" cy="19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Manually reviewed &amp; coded each comment into 5 operational categories using iterative grouping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29167" y="7499106"/>
            <a:ext cx="8112198" cy="1403514"/>
            <a:chOff x="0" y="0"/>
            <a:chExt cx="894976" cy="1548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4976" cy="154842"/>
            </a:xfrm>
            <a:custGeom>
              <a:avLst/>
              <a:gdLst/>
              <a:ahLst/>
              <a:cxnLst/>
              <a:rect r="r" b="b" t="t" l="l"/>
              <a:pathLst>
                <a:path h="154842" w="894976">
                  <a:moveTo>
                    <a:pt x="0" y="0"/>
                  </a:moveTo>
                  <a:lnTo>
                    <a:pt x="894976" y="0"/>
                  </a:lnTo>
                  <a:lnTo>
                    <a:pt x="894976" y="154842"/>
                  </a:lnTo>
                  <a:lnTo>
                    <a:pt x="0" y="154842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4976" cy="202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2E6417"/>
                  </a:solidFill>
                  <a:latin typeface="Open Sans"/>
                  <a:ea typeface="Open Sans"/>
                  <a:cs typeface="Open Sans"/>
                  <a:sym typeface="Open Sans"/>
                </a:rPr>
                <a:t>✓   Focused on pattern identification within available data; acknowledged as a limitation; recommended longitudinal study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726799" y="2675416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26799" y="4414562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26799" y="6136874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26799" y="7822050"/>
            <a:ext cx="975320" cy="6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4033">
                <a:solidFill>
                  <a:srgbClr val="0071B3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173" y="646372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575" y="585462"/>
            <a:ext cx="16386611" cy="226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6"/>
              </a:lnSpc>
            </a:pPr>
            <a:r>
              <a:rPr lang="en-US" sz="86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Personal R</a:t>
            </a:r>
            <a:r>
              <a:rPr lang="en-US" sz="86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eflection: Overall Growth</a:t>
            </a:r>
          </a:p>
          <a:p>
            <a:pPr algn="l">
              <a:lnSpc>
                <a:spcPts val="8616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01737" y="2314870"/>
            <a:ext cx="5911675" cy="7614504"/>
            <a:chOff x="0" y="0"/>
            <a:chExt cx="1556984" cy="20054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984" cy="2005466"/>
            </a:xfrm>
            <a:custGeom>
              <a:avLst/>
              <a:gdLst/>
              <a:ahLst/>
              <a:cxnLst/>
              <a:rect r="r" b="b" t="t" l="l"/>
              <a:pathLst>
                <a:path h="2005466" w="1556984">
                  <a:moveTo>
                    <a:pt x="32740" y="0"/>
                  </a:moveTo>
                  <a:lnTo>
                    <a:pt x="1524244" y="0"/>
                  </a:lnTo>
                  <a:cubicBezTo>
                    <a:pt x="1532928" y="0"/>
                    <a:pt x="1541255" y="3449"/>
                    <a:pt x="1547395" y="9589"/>
                  </a:cubicBezTo>
                  <a:cubicBezTo>
                    <a:pt x="1553535" y="15729"/>
                    <a:pt x="1556984" y="24057"/>
                    <a:pt x="1556984" y="32740"/>
                  </a:cubicBezTo>
                  <a:lnTo>
                    <a:pt x="1556984" y="1972726"/>
                  </a:lnTo>
                  <a:cubicBezTo>
                    <a:pt x="1556984" y="1990808"/>
                    <a:pt x="1542326" y="2005466"/>
                    <a:pt x="1524244" y="2005466"/>
                  </a:cubicBezTo>
                  <a:lnTo>
                    <a:pt x="32740" y="2005466"/>
                  </a:lnTo>
                  <a:cubicBezTo>
                    <a:pt x="14658" y="2005466"/>
                    <a:pt x="0" y="1990808"/>
                    <a:pt x="0" y="1972726"/>
                  </a:cubicBezTo>
                  <a:lnTo>
                    <a:pt x="0" y="32740"/>
                  </a:lnTo>
                  <a:cubicBezTo>
                    <a:pt x="0" y="14658"/>
                    <a:pt x="14658" y="0"/>
                    <a:pt x="3274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6984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1737" y="2314870"/>
            <a:ext cx="5911675" cy="1281483"/>
            <a:chOff x="0" y="0"/>
            <a:chExt cx="711096" cy="1541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096" cy="154145"/>
            </a:xfrm>
            <a:custGeom>
              <a:avLst/>
              <a:gdLst/>
              <a:ahLst/>
              <a:cxnLst/>
              <a:rect r="r" b="b" t="t" l="l"/>
              <a:pathLst>
                <a:path h="154145" w="711096">
                  <a:moveTo>
                    <a:pt x="0" y="0"/>
                  </a:moveTo>
                  <a:lnTo>
                    <a:pt x="711096" y="0"/>
                  </a:lnTo>
                  <a:lnTo>
                    <a:pt x="711096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093F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096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12993" y="2314870"/>
            <a:ext cx="5911675" cy="7614504"/>
            <a:chOff x="0" y="0"/>
            <a:chExt cx="1556984" cy="2005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6984" cy="2005466"/>
            </a:xfrm>
            <a:custGeom>
              <a:avLst/>
              <a:gdLst/>
              <a:ahLst/>
              <a:cxnLst/>
              <a:rect r="r" b="b" t="t" l="l"/>
              <a:pathLst>
                <a:path h="2005466" w="1556984">
                  <a:moveTo>
                    <a:pt x="32740" y="0"/>
                  </a:moveTo>
                  <a:lnTo>
                    <a:pt x="1524244" y="0"/>
                  </a:lnTo>
                  <a:cubicBezTo>
                    <a:pt x="1532928" y="0"/>
                    <a:pt x="1541255" y="3449"/>
                    <a:pt x="1547395" y="9589"/>
                  </a:cubicBezTo>
                  <a:cubicBezTo>
                    <a:pt x="1553535" y="15729"/>
                    <a:pt x="1556984" y="24057"/>
                    <a:pt x="1556984" y="32740"/>
                  </a:cubicBezTo>
                  <a:lnTo>
                    <a:pt x="1556984" y="1972726"/>
                  </a:lnTo>
                  <a:cubicBezTo>
                    <a:pt x="1556984" y="1990808"/>
                    <a:pt x="1542326" y="2005466"/>
                    <a:pt x="1524244" y="2005466"/>
                  </a:cubicBezTo>
                  <a:lnTo>
                    <a:pt x="32740" y="2005466"/>
                  </a:lnTo>
                  <a:cubicBezTo>
                    <a:pt x="14658" y="2005466"/>
                    <a:pt x="0" y="1990808"/>
                    <a:pt x="0" y="1972726"/>
                  </a:cubicBezTo>
                  <a:lnTo>
                    <a:pt x="0" y="32740"/>
                  </a:lnTo>
                  <a:cubicBezTo>
                    <a:pt x="0" y="14658"/>
                    <a:pt x="14658" y="0"/>
                    <a:pt x="3274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6984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24693" y="2314870"/>
            <a:ext cx="5690231" cy="7614504"/>
            <a:chOff x="0" y="0"/>
            <a:chExt cx="1498662" cy="2005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8662" cy="2005466"/>
            </a:xfrm>
            <a:custGeom>
              <a:avLst/>
              <a:gdLst/>
              <a:ahLst/>
              <a:cxnLst/>
              <a:rect r="r" b="b" t="t" l="l"/>
              <a:pathLst>
                <a:path h="2005466" w="1498662">
                  <a:moveTo>
                    <a:pt x="34014" y="0"/>
                  </a:moveTo>
                  <a:lnTo>
                    <a:pt x="1464648" y="0"/>
                  </a:lnTo>
                  <a:cubicBezTo>
                    <a:pt x="1483433" y="0"/>
                    <a:pt x="1498662" y="15229"/>
                    <a:pt x="1498662" y="34014"/>
                  </a:cubicBezTo>
                  <a:lnTo>
                    <a:pt x="1498662" y="1971452"/>
                  </a:lnTo>
                  <a:cubicBezTo>
                    <a:pt x="1498662" y="1980473"/>
                    <a:pt x="1495078" y="1989125"/>
                    <a:pt x="1488699" y="1995503"/>
                  </a:cubicBezTo>
                  <a:cubicBezTo>
                    <a:pt x="1482320" y="2001882"/>
                    <a:pt x="1473669" y="2005466"/>
                    <a:pt x="1464648" y="2005466"/>
                  </a:cubicBezTo>
                  <a:lnTo>
                    <a:pt x="34014" y="2005466"/>
                  </a:lnTo>
                  <a:cubicBezTo>
                    <a:pt x="15229" y="2005466"/>
                    <a:pt x="0" y="1990237"/>
                    <a:pt x="0" y="1971452"/>
                  </a:cubicBezTo>
                  <a:lnTo>
                    <a:pt x="0" y="34014"/>
                  </a:lnTo>
                  <a:cubicBezTo>
                    <a:pt x="0" y="24993"/>
                    <a:pt x="3584" y="16341"/>
                    <a:pt x="9962" y="9962"/>
                  </a:cubicBezTo>
                  <a:cubicBezTo>
                    <a:pt x="16341" y="3584"/>
                    <a:pt x="24993" y="0"/>
                    <a:pt x="3401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98662" cy="204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12993" y="2314870"/>
            <a:ext cx="5911675" cy="1281483"/>
            <a:chOff x="0" y="0"/>
            <a:chExt cx="711096" cy="1541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096" cy="154145"/>
            </a:xfrm>
            <a:custGeom>
              <a:avLst/>
              <a:gdLst/>
              <a:ahLst/>
              <a:cxnLst/>
              <a:rect r="r" b="b" t="t" l="l"/>
              <a:pathLst>
                <a:path h="154145" w="711096">
                  <a:moveTo>
                    <a:pt x="0" y="0"/>
                  </a:moveTo>
                  <a:lnTo>
                    <a:pt x="711096" y="0"/>
                  </a:lnTo>
                  <a:lnTo>
                    <a:pt x="711096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096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24249" y="2314870"/>
            <a:ext cx="5690675" cy="1281483"/>
            <a:chOff x="0" y="0"/>
            <a:chExt cx="684513" cy="1541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4513" cy="154145"/>
            </a:xfrm>
            <a:custGeom>
              <a:avLst/>
              <a:gdLst/>
              <a:ahLst/>
              <a:cxnLst/>
              <a:rect r="r" b="b" t="t" l="l"/>
              <a:pathLst>
                <a:path h="154145" w="684513">
                  <a:moveTo>
                    <a:pt x="0" y="0"/>
                  </a:moveTo>
                  <a:lnTo>
                    <a:pt x="684513" y="0"/>
                  </a:lnTo>
                  <a:lnTo>
                    <a:pt x="684513" y="154145"/>
                  </a:lnTo>
                  <a:lnTo>
                    <a:pt x="0" y="154145"/>
                  </a:lnTo>
                  <a:close/>
                </a:path>
              </a:pathLst>
            </a:custGeom>
            <a:solidFill>
              <a:srgbClr val="BC3FD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4513" cy="1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5826" y="2665986"/>
            <a:ext cx="5911231" cy="5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🎓 A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cademic → Industry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2968" y="2665986"/>
            <a:ext cx="5911231" cy="5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🧠 Mi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ndset Shift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67543" y="2665986"/>
            <a:ext cx="5690231" cy="5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🌟 Profess</a:t>
            </a:r>
            <a:r>
              <a:rPr lang="en-US" sz="3051" spc="1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ional Identity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737" y="4266900"/>
            <a:ext cx="5619408" cy="427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Applied University-learned statistics (ANOVA, Chi-Square) to solve a real business problem.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Learned that academic rigour enhances , not replaces  practical judgment.</a:t>
            </a:r>
          </a:p>
          <a:p>
            <a:pPr algn="l">
              <a:lnSpc>
                <a:spcPts val="4261"/>
              </a:lnSpc>
            </a:pPr>
          </a:p>
          <a:p>
            <a:pPr algn="just">
              <a:lnSpc>
                <a:spcPts val="4261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true" flipV="true" rot="0">
            <a:off x="15091664" y="-219673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34296" y="4266900"/>
            <a:ext cx="5619408" cy="641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Developed patience and attention to detail during data cleaning.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Learned to work within organisational constraints and adapt analysis to available data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Grew more comfortable presenting data-backed arguments to experienced professionals.</a:t>
            </a:r>
          </a:p>
          <a:p>
            <a:pPr algn="l">
              <a:lnSpc>
                <a:spcPts val="4261"/>
              </a:lnSpc>
            </a:pPr>
          </a:p>
          <a:p>
            <a:pPr algn="l">
              <a:lnSpc>
                <a:spcPts val="4261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495516" y="4266900"/>
            <a:ext cx="5619408" cy="534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Discovered a genuine interest in data analytics and operational research.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Understood the value of clear documentation in collaborative environments.</a:t>
            </a:r>
          </a:p>
          <a:p>
            <a:pPr algn="l" marL="550896" indent="-275448" lvl="1">
              <a:lnSpc>
                <a:spcPts val="4261"/>
              </a:lnSpc>
              <a:buFont typeface="Arial"/>
              <a:buChar char="•"/>
            </a:pPr>
            <a:r>
              <a:rPr lang="en-US" sz="2551" spc="12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Built confidence in handling end-to-end analytical projects independently.</a:t>
            </a:r>
          </a:p>
          <a:p>
            <a:pPr algn="l">
              <a:lnSpc>
                <a:spcPts val="426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7610" y="653629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9358" y="2229548"/>
            <a:ext cx="13708281" cy="620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📌P.O. delays, though small in aggregate, reveal significant inefficiencies at the plant and customer level</a:t>
            </a:r>
          </a:p>
          <a:p>
            <a:pPr algn="l">
              <a:lnSpc>
                <a:spcPts val="3246"/>
              </a:lnSpc>
            </a:pP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📌Data-driven tools (SPSS + Power BI) are powerful for uncovering operational patterns invisible to the naked eye</a:t>
            </a:r>
          </a:p>
          <a:p>
            <a:pPr algn="l">
              <a:lnSpc>
                <a:spcPts val="3246"/>
              </a:lnSpc>
            </a:pP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📌The internship transformed theoretical knowledge into practical, industry-relevant analytical skills</a:t>
            </a:r>
          </a:p>
          <a:p>
            <a:pPr algn="l">
              <a:lnSpc>
                <a:spcPts val="3246"/>
              </a:lnSpc>
            </a:pP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📌Documentation discipline, cross-team communication, and standardisation are the keys to reducing P.O. delays</a:t>
            </a:r>
          </a:p>
          <a:p>
            <a:pPr algn="l">
              <a:lnSpc>
                <a:spcPts val="3246"/>
              </a:lnSpc>
            </a:pP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📌This experience has shaped my aspiration to pursue a career in data analytics and operational management</a:t>
            </a:r>
          </a:p>
          <a:p>
            <a:pPr algn="l">
              <a:lnSpc>
                <a:spcPts val="33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6845" y="585462"/>
            <a:ext cx="6118799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4621365" y="0"/>
            <a:ext cx="5275870" cy="7532473"/>
          </a:xfrm>
          <a:custGeom>
            <a:avLst/>
            <a:gdLst/>
            <a:ahLst/>
            <a:cxnLst/>
            <a:rect r="r" b="b" t="t" l="l"/>
            <a:pathLst>
              <a:path h="7532473" w="5275870">
                <a:moveTo>
                  <a:pt x="5275870" y="7532473"/>
                </a:moveTo>
                <a:lnTo>
                  <a:pt x="0" y="7532473"/>
                </a:lnTo>
                <a:lnTo>
                  <a:pt x="0" y="0"/>
                </a:lnTo>
                <a:lnTo>
                  <a:pt x="5275870" y="0"/>
                </a:lnTo>
                <a:lnTo>
                  <a:pt x="5275870" y="753247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0" y="8727254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1930" y="-1424914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97368" y="3406043"/>
            <a:ext cx="10889488" cy="230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0"/>
              </a:lnSpc>
            </a:pPr>
            <a:r>
              <a:rPr lang="en-US" sz="16676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5244064" y="-204433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841399" y="8069580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DAHF6AMfUSI</dc:identifier>
  <dcterms:modified xsi:type="dcterms:W3CDTF">2011-08-01T06:04:30Z</dcterms:modified>
  <cp:revision>1</cp:revision>
  <dc:title>s16725_Final Presentation_FS 3001</dc:title>
</cp:coreProperties>
</file>